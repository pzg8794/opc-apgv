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2"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2" r:id="rId14"/>
    <p:sldId id="267" r:id="rId15"/>
    <p:sldId id="270" r:id="rId16"/>
    <p:sldId id="271" r:id="rId17"/>
    <p:sldId id="273" r:id="rId18"/>
    <p:sldId id="274" r:id="rId19"/>
    <p:sldId id="275" r:id="rId20"/>
    <p:sldId id="276" r:id="rId21"/>
    <p:sldId id="268" r:id="rId22"/>
    <p:sldId id="277" r:id="rId23"/>
    <p:sldId id="278"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30" d="100"/>
          <a:sy n="30" d="100"/>
        </p:scale>
        <p:origin x="-1648" y="-1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interSettings" Target="printerSettings/printerSettings1.bin"/><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DDF012-36F2-D144-9B70-BBB43326D2B8}" type="datetimeFigureOut">
              <a:rPr lang="en-US" smtClean="0"/>
              <a:t>10/7/13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2B271D-466D-B241-B04D-B5BD8C46CFEF}" type="slidenum">
              <a:rPr lang="en-US" smtClean="0"/>
              <a:t>‹#›</a:t>
            </a:fld>
            <a:endParaRPr lang="en-US"/>
          </a:p>
        </p:txBody>
      </p:sp>
    </p:spTree>
    <p:extLst>
      <p:ext uri="{BB962C8B-B14F-4D97-AF65-F5344CB8AC3E}">
        <p14:creationId xmlns:p14="http://schemas.microsoft.com/office/powerpoint/2010/main" val="174973286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2B271D-466D-B241-B04D-B5BD8C46CFEF}" type="slidenum">
              <a:rPr lang="en-US" smtClean="0"/>
              <a:t>1</a:t>
            </a:fld>
            <a:endParaRPr lang="en-US"/>
          </a:p>
        </p:txBody>
      </p:sp>
    </p:spTree>
    <p:extLst>
      <p:ext uri="{BB962C8B-B14F-4D97-AF65-F5344CB8AC3E}">
        <p14:creationId xmlns:p14="http://schemas.microsoft.com/office/powerpoint/2010/main" val="34293284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0738" y="4155141"/>
            <a:ext cx="7542212" cy="1013012"/>
          </a:xfrm>
        </p:spPr>
        <p:txBody>
          <a:bodyPr anchor="b" anchorCtr="0">
            <a:noAutofit/>
          </a:bodyPr>
          <a:lstStyle/>
          <a:p>
            <a:r>
              <a:rPr lang="en-US" smtClean="0"/>
              <a:t>Click to edit Master title style</a:t>
            </a:r>
            <a:endParaRPr/>
          </a:p>
        </p:txBody>
      </p:sp>
      <p:sp>
        <p:nvSpPr>
          <p:cNvPr id="3" name="Subtitle 2"/>
          <p:cNvSpPr>
            <a:spLocks noGrp="1"/>
          </p:cNvSpPr>
          <p:nvPr>
            <p:ph type="subTitle" idx="1"/>
          </p:nvPr>
        </p:nvSpPr>
        <p:spPr>
          <a:xfrm>
            <a:off x="820738" y="5230906"/>
            <a:ext cx="7542212" cy="1030942"/>
          </a:xfrm>
        </p:spPr>
        <p:txBody>
          <a:bodyPr/>
          <a:lstStyle>
            <a:lvl1pPr marL="0" indent="0" algn="ctr">
              <a:spcBef>
                <a:spcPct val="30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7651D5E1-5177-624D-9A19-0C8E25D20861}" type="datetimeFigureOut">
              <a:rPr lang="en-US" smtClean="0"/>
              <a:t>10/6/13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524A3-5906-4A4B-A64A-8198987E854F}" type="slidenum">
              <a:rPr lang="en-US" smtClean="0"/>
              <a:t>‹#›</a:t>
            </a:fld>
            <a:endParaRPr lang="en-US"/>
          </a:p>
        </p:txBody>
      </p:sp>
      <p:pic>
        <p:nvPicPr>
          <p:cNvPr id="7" name="Picture 6" descr="MoleculeTracer.png"/>
          <p:cNvPicPr>
            <a:picLocks noChangeAspect="1"/>
          </p:cNvPicPr>
          <p:nvPr/>
        </p:nvPicPr>
        <p:blipFill>
          <a:blip r:embed="rId2"/>
          <a:stretch>
            <a:fillRect/>
          </a:stretch>
        </p:blipFill>
        <p:spPr>
          <a:xfrm>
            <a:off x="1674019" y="224679"/>
            <a:ext cx="5795963" cy="394337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7651D5E1-5177-624D-9A19-0C8E25D20861}" type="datetimeFigureOut">
              <a:rPr lang="en-US" smtClean="0"/>
              <a:t>10/6/13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524A3-5906-4A4B-A64A-8198987E854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0737" y="1219013"/>
            <a:ext cx="7542213" cy="1958975"/>
          </a:xfrm>
        </p:spPr>
        <p:txBody>
          <a:bodyPr vert="horz" lIns="91440" tIns="45720" rIns="91440" bIns="45720" rtlCol="0" anchor="b" anchorCtr="0">
            <a:noAutofit/>
          </a:bodyPr>
          <a:lstStyle>
            <a:lvl1pPr algn="ctr" defTabSz="914400" rtl="0" eaLnBrk="1" latinLnBrk="0" hangingPunct="1">
              <a:spcBef>
                <a:spcPct val="0"/>
              </a:spcBef>
              <a:buNone/>
              <a:defRPr sz="5200" b="1" kern="1200">
                <a:solidFill>
                  <a:schemeClr val="tx1"/>
                </a:solidFill>
                <a:effectLst>
                  <a:outerShdw blurRad="101600" dist="63500" dir="2700000" algn="tl" rotWithShape="0">
                    <a:prstClr val="black">
                      <a:alpha val="75000"/>
                    </a:prstClr>
                  </a:outerShdw>
                </a:effectLst>
                <a:latin typeface="+mj-lt"/>
                <a:ea typeface="+mj-ea"/>
                <a:cs typeface="+mj-cs"/>
              </a:defRPr>
            </a:lvl1pPr>
          </a:lstStyle>
          <a:p>
            <a:r>
              <a:rPr lang="en-US" smtClean="0"/>
              <a:t>Click to edit Master title style</a:t>
            </a:r>
            <a:endParaRPr/>
          </a:p>
        </p:txBody>
      </p:sp>
      <p:sp>
        <p:nvSpPr>
          <p:cNvPr id="3" name="Text Placeholder 2"/>
          <p:cNvSpPr>
            <a:spLocks noGrp="1"/>
          </p:cNvSpPr>
          <p:nvPr>
            <p:ph type="body" idx="1"/>
          </p:nvPr>
        </p:nvSpPr>
        <p:spPr>
          <a:xfrm>
            <a:off x="820737" y="3224213"/>
            <a:ext cx="7542213" cy="1500187"/>
          </a:xfrm>
        </p:spPr>
        <p:txBody>
          <a:bodyPr vert="horz" lIns="91440" tIns="45720" rIns="91440" bIns="45720" rtlCol="0">
            <a:normAutofit/>
          </a:bodyPr>
          <a:lstStyle>
            <a:lvl1pPr marL="0" indent="0" algn="ctr" defTabSz="914400" rtl="0" eaLnBrk="1" latinLnBrk="0" hangingPunct="1">
              <a:spcBef>
                <a:spcPts val="300"/>
              </a:spcBef>
              <a:buFontTx/>
              <a:buNone/>
              <a:defRPr sz="2400" b="1" kern="1200">
                <a:solidFill>
                  <a:schemeClr val="tx1">
                    <a:tint val="75000"/>
                  </a:schemeClr>
                </a:solidFill>
                <a:effectLst>
                  <a:outerShdw blurRad="101600" dist="63500" dir="2700000" algn="tl" rotWithShape="0">
                    <a:prstClr val="black">
                      <a:alpha val="75000"/>
                    </a:prstClr>
                  </a:outerShdw>
                </a:effectLst>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651D5E1-5177-624D-9A19-0C8E25D20861}" type="datetimeFigureOut">
              <a:rPr lang="en-US" smtClean="0"/>
              <a:t>10/6/13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524A3-5906-4A4B-A64A-8198987E854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79462" y="107577"/>
            <a:ext cx="7581901" cy="1653988"/>
          </a:xfrm>
        </p:spPr>
        <p:txBody>
          <a:bodyPr/>
          <a:lstStyle/>
          <a:p>
            <a:r>
              <a:rPr lang="en-US" smtClean="0"/>
              <a:t>Click to edit Master title style</a:t>
            </a:r>
            <a:endParaRPr/>
          </a:p>
        </p:txBody>
      </p:sp>
      <p:sp>
        <p:nvSpPr>
          <p:cNvPr id="3" name="Content Placeholder 2"/>
          <p:cNvSpPr>
            <a:spLocks noGrp="1"/>
          </p:cNvSpPr>
          <p:nvPr>
            <p:ph sz="half" idx="1"/>
          </p:nvPr>
        </p:nvSpPr>
        <p:spPr>
          <a:xfrm>
            <a:off x="779462" y="1892301"/>
            <a:ext cx="3657600" cy="3975100"/>
          </a:xfrm>
        </p:spPr>
        <p:txBody>
          <a:bodyPr>
            <a:normAutofit/>
          </a:bodyPr>
          <a:lstStyle>
            <a:lvl1pPr>
              <a:defRPr sz="2000"/>
            </a:lvl1pPr>
            <a:lvl2pPr>
              <a:defRPr sz="1800"/>
            </a:lvl2pPr>
            <a:lvl3pPr>
              <a:defRPr sz="1800"/>
            </a:lvl3pPr>
            <a:lvl4pPr>
              <a:defRPr sz="1800"/>
            </a:lvl4pPr>
            <a:lvl5pPr>
              <a:defRPr sz="1800"/>
            </a:lvl5pPr>
            <a:lvl6pPr marL="2173288" indent="-344488">
              <a:defRPr sz="1800"/>
            </a:lvl6pPr>
            <a:lvl7pPr marL="2173288" indent="-344488">
              <a:defRPr sz="1800"/>
            </a:lvl7pPr>
            <a:lvl8pPr marL="2173288" indent="-344488">
              <a:defRPr sz="1800"/>
            </a:lvl8pPr>
            <a:lvl9pPr marL="2173288" indent="-344488">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4703763" y="1892301"/>
            <a:ext cx="3657600" cy="3975100"/>
          </a:xfrm>
        </p:spPr>
        <p:txBody>
          <a:bodyPr>
            <a:normAutofit/>
          </a:bodyPr>
          <a:lstStyle>
            <a:lvl1pPr>
              <a:defRPr sz="2000"/>
            </a:lvl1pPr>
            <a:lvl2pPr>
              <a:defRPr sz="1800"/>
            </a:lvl2pPr>
            <a:lvl3pPr>
              <a:defRPr sz="1800"/>
            </a:lvl3pPr>
            <a:lvl4pPr>
              <a:defRPr sz="1800"/>
            </a:lvl4pPr>
            <a:lvl5pPr>
              <a:defRPr sz="1800"/>
            </a:lvl5pPr>
            <a:lvl6pPr marL="2173288" indent="-344488">
              <a:defRPr sz="1800"/>
            </a:lvl6pPr>
            <a:lvl7pPr marL="2173288" indent="-344488">
              <a:defRPr sz="1800"/>
            </a:lvl7pPr>
            <a:lvl8pPr marL="2173288" indent="-344488">
              <a:defRPr sz="1800"/>
            </a:lvl8pPr>
            <a:lvl9pPr marL="2173288" indent="-344488">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7651D5E1-5177-624D-9A19-0C8E25D20861}" type="datetimeFigureOut">
              <a:rPr lang="en-US" smtClean="0"/>
              <a:t>10/6/13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A524A3-5906-4A4B-A64A-8198987E854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79462" y="107577"/>
            <a:ext cx="7581901" cy="1653988"/>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9462" y="1761565"/>
            <a:ext cx="3657600" cy="515469"/>
          </a:xfrm>
        </p:spPr>
        <p:txBody>
          <a:bodyPr anchor="b">
            <a:normAutofit/>
          </a:bodyPr>
          <a:lstStyle>
            <a:lvl1pPr marL="0" indent="0" algn="ctr">
              <a:spcBef>
                <a:spcPct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9462" y="2393575"/>
            <a:ext cx="3657600" cy="3473823"/>
          </a:xfrm>
        </p:spPr>
        <p:txBody>
          <a:bodyPr>
            <a:normAutofit/>
          </a:bodyPr>
          <a:lstStyle>
            <a:lvl1pPr>
              <a:defRPr sz="2000"/>
            </a:lvl1pPr>
            <a:lvl2pPr>
              <a:defRPr sz="1800"/>
            </a:lvl2pPr>
            <a:lvl3pPr>
              <a:defRPr sz="1800"/>
            </a:lvl3pPr>
            <a:lvl4pPr>
              <a:defRPr sz="1800"/>
            </a:lvl4pPr>
            <a:lvl5pPr>
              <a:defRPr sz="1800"/>
            </a:lvl5pPr>
            <a:lvl6pPr marL="2173288" indent="-344488">
              <a:defRPr sz="1600"/>
            </a:lvl6pPr>
            <a:lvl7pPr marL="2173288" indent="-344488">
              <a:defRPr sz="1600"/>
            </a:lvl7pPr>
            <a:lvl8pPr marL="2173288" indent="-344488">
              <a:defRPr sz="1600"/>
            </a:lvl8pPr>
            <a:lvl9pPr marL="2173288" indent="-344488">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p:nvPr>
        </p:nvSpPr>
        <p:spPr>
          <a:xfrm>
            <a:off x="4703763" y="1761565"/>
            <a:ext cx="3657600" cy="515469"/>
          </a:xfrm>
        </p:spPr>
        <p:txBody>
          <a:bodyPr anchor="b">
            <a:normAutofit/>
          </a:bodyPr>
          <a:lstStyle>
            <a:lvl1pPr marL="0" indent="0" algn="ctr">
              <a:spcBef>
                <a:spcPct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03763" y="2393575"/>
            <a:ext cx="3657600" cy="3473823"/>
          </a:xfrm>
        </p:spPr>
        <p:txBody>
          <a:bodyPr>
            <a:normAutofit/>
          </a:bodyPr>
          <a:lstStyle>
            <a:lvl1pPr>
              <a:defRPr sz="2000"/>
            </a:lvl1pPr>
            <a:lvl2pPr>
              <a:defRPr sz="1800"/>
            </a:lvl2pPr>
            <a:lvl3pPr>
              <a:defRPr sz="1800"/>
            </a:lvl3pPr>
            <a:lvl4pPr>
              <a:defRPr sz="1800"/>
            </a:lvl4pPr>
            <a:lvl5pPr>
              <a:defRPr sz="1800"/>
            </a:lvl5pPr>
            <a:lvl6pPr marL="2173288" indent="-344488">
              <a:defRPr sz="1600"/>
            </a:lvl6pPr>
            <a:lvl7pPr marL="2173288" indent="-344488">
              <a:defRPr sz="1600"/>
            </a:lvl7pPr>
            <a:lvl8pPr marL="2173288" indent="-344488">
              <a:defRPr sz="1600"/>
            </a:lvl8pPr>
            <a:lvl9pPr marL="2173288" indent="-344488">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7651D5E1-5177-624D-9A19-0C8E25D20861}" type="datetimeFigureOut">
              <a:rPr lang="en-US" smtClean="0"/>
              <a:t>10/6/13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A524A3-5906-4A4B-A64A-8198987E854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7651D5E1-5177-624D-9A19-0C8E25D20861}" type="datetimeFigureOut">
              <a:rPr lang="en-US" smtClean="0"/>
              <a:t>10/6/13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A524A3-5906-4A4B-A64A-8198987E854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51D5E1-5177-624D-9A19-0C8E25D20861}" type="datetimeFigureOut">
              <a:rPr lang="en-US" smtClean="0"/>
              <a:t>10/6/13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A524A3-5906-4A4B-A64A-8198987E854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9929" y="457201"/>
            <a:ext cx="3566160" cy="1371600"/>
          </a:xfrm>
        </p:spPr>
        <p:txBody>
          <a:bodyPr anchor="b">
            <a:normAutofit/>
          </a:bodyPr>
          <a:lstStyle>
            <a:lvl1pPr algn="ctr">
              <a:defRPr sz="3600" b="1"/>
            </a:lvl1pPr>
          </a:lstStyle>
          <a:p>
            <a:r>
              <a:rPr lang="en-US" smtClean="0"/>
              <a:t>Click to edit Master title style</a:t>
            </a:r>
            <a:endParaRPr/>
          </a:p>
        </p:txBody>
      </p:sp>
      <p:sp>
        <p:nvSpPr>
          <p:cNvPr id="3" name="Content Placeholder 2"/>
          <p:cNvSpPr>
            <a:spLocks noGrp="1"/>
          </p:cNvSpPr>
          <p:nvPr>
            <p:ph idx="1"/>
          </p:nvPr>
        </p:nvSpPr>
        <p:spPr>
          <a:xfrm>
            <a:off x="4802393" y="457201"/>
            <a:ext cx="3566160" cy="5410200"/>
          </a:xfrm>
        </p:spPr>
        <p:txBody>
          <a:bodyPr>
            <a:normAutofit/>
          </a:bodyPr>
          <a:lstStyle>
            <a:lvl1pPr>
              <a:defRPr sz="2400"/>
            </a:lvl1pPr>
            <a:lvl2pPr>
              <a:defRPr sz="2200"/>
            </a:lvl2pPr>
            <a:lvl3pPr>
              <a:defRPr sz="2000"/>
            </a:lvl3pPr>
            <a:lvl4pPr>
              <a:defRPr sz="1800"/>
            </a:lvl4pPr>
            <a:lvl5pPr>
              <a:defRPr sz="1800"/>
            </a:lvl5pPr>
            <a:lvl6pPr marL="2173288" indent="-344488">
              <a:defRPr lang="en-US" sz="1800" b="1" kern="1200" dirty="0" smtClean="0">
                <a:solidFill>
                  <a:schemeClr val="tx1"/>
                </a:solidFill>
                <a:effectLst>
                  <a:outerShdw blurRad="101600" dist="63500" dir="2700000" algn="tl" rotWithShape="0">
                    <a:prstClr val="black">
                      <a:alpha val="75000"/>
                    </a:prstClr>
                  </a:outerShdw>
                </a:effectLst>
                <a:latin typeface="+mn-lt"/>
                <a:ea typeface="+mn-ea"/>
                <a:cs typeface="+mn-cs"/>
              </a:defRPr>
            </a:lvl6pPr>
            <a:lvl7pPr marL="2173288" indent="-344488">
              <a:defRPr lang="en-US" sz="1800" b="1" kern="1200" dirty="0" smtClean="0">
                <a:solidFill>
                  <a:schemeClr val="tx1"/>
                </a:solidFill>
                <a:effectLst>
                  <a:outerShdw blurRad="101600" dist="63500" dir="2700000" algn="tl" rotWithShape="0">
                    <a:prstClr val="black">
                      <a:alpha val="75000"/>
                    </a:prstClr>
                  </a:outerShdw>
                </a:effectLst>
                <a:latin typeface="+mn-lt"/>
                <a:ea typeface="+mn-ea"/>
                <a:cs typeface="+mn-cs"/>
              </a:defRPr>
            </a:lvl7pPr>
            <a:lvl8pPr marL="2173288" indent="-344488">
              <a:defRPr lang="en-US" sz="1800" b="1" kern="1200" dirty="0" smtClean="0">
                <a:solidFill>
                  <a:schemeClr val="tx1"/>
                </a:solidFill>
                <a:effectLst>
                  <a:outerShdw blurRad="101600" dist="63500" dir="2700000" algn="tl" rotWithShape="0">
                    <a:prstClr val="black">
                      <a:alpha val="75000"/>
                    </a:prstClr>
                  </a:outerShdw>
                </a:effectLst>
                <a:latin typeface="+mn-lt"/>
                <a:ea typeface="+mn-ea"/>
                <a:cs typeface="+mn-cs"/>
              </a:defRPr>
            </a:lvl8pPr>
            <a:lvl9pPr marL="2173288" indent="-344488">
              <a:defRPr sz="1800" b="1" kern="1200" dirty="0">
                <a:solidFill>
                  <a:schemeClr val="tx1"/>
                </a:solidFill>
                <a:effectLst>
                  <a:outerShdw blurRad="101600" dist="63500" dir="2700000" algn="tl" rotWithShape="0">
                    <a:prstClr val="black">
                      <a:alpha val="75000"/>
                    </a:prstClr>
                  </a:outerShdw>
                </a:effectLst>
                <a:latin typeface="+mn-lt"/>
                <a:ea typeface="+mn-ea"/>
                <a:cs typeface="+mn-cs"/>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a:xfrm>
            <a:off x="779929" y="1828801"/>
            <a:ext cx="3566160" cy="3657600"/>
          </a:xfrm>
        </p:spPr>
        <p:txBody>
          <a:bodyPr>
            <a:normAutofit/>
          </a:bodyPr>
          <a:lstStyle>
            <a:lvl1pPr marL="0" indent="0" algn="ctr">
              <a:spcBef>
                <a:spcPts val="6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51D5E1-5177-624D-9A19-0C8E25D20861}" type="datetimeFigureOut">
              <a:rPr lang="en-US" smtClean="0"/>
              <a:t>10/6/13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A524A3-5906-4A4B-A64A-8198987E854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7240" y="457200"/>
            <a:ext cx="3566160" cy="1371600"/>
          </a:xfrm>
        </p:spPr>
        <p:txBody>
          <a:bodyPr anchor="b">
            <a:normAutofit/>
          </a:bodyPr>
          <a:lstStyle>
            <a:lvl1pPr algn="ctr">
              <a:defRPr sz="3600" b="1" kern="1200">
                <a:solidFill>
                  <a:schemeClr val="tx1"/>
                </a:solidFill>
                <a:effectLst>
                  <a:outerShdw blurRad="101600" dist="63500" dir="2700000" algn="tl" rotWithShape="0">
                    <a:prstClr val="black">
                      <a:alpha val="75000"/>
                    </a:prstClr>
                  </a:outerShdw>
                </a:effectLst>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5266765" y="1676400"/>
            <a:ext cx="2975610" cy="2975610"/>
          </a:xfrm>
          <a:prstGeom prst="ellipse">
            <a:avLst/>
          </a:prstGeom>
          <a:solidFill>
            <a:schemeClr val="tx1">
              <a:lumMod val="75000"/>
            </a:schemeClr>
          </a:solidFill>
          <a:ln w="63500">
            <a:solidFill>
              <a:schemeClr val="tx1"/>
            </a:solidFill>
          </a:ln>
          <a:effectLst>
            <a:outerShdw blurRad="254000" dist="152400" dir="5400000" sx="90000" sy="-19000" rotWithShape="0">
              <a:prstClr val="black">
                <a:alpha val="2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777240" y="1828800"/>
            <a:ext cx="3566160" cy="3657600"/>
          </a:xfrm>
        </p:spPr>
        <p:txBody>
          <a:bodyPr vert="horz" lIns="91440" tIns="45720" rIns="91440" bIns="45720" rtlCol="0">
            <a:normAutofit/>
          </a:bodyPr>
          <a:lstStyle>
            <a:lvl1pPr marL="0" indent="0" algn="ctr">
              <a:spcBef>
                <a:spcPts val="600"/>
              </a:spcBef>
              <a:buNone/>
              <a:defRPr sz="2000" b="1" kern="1200">
                <a:solidFill>
                  <a:schemeClr val="tx1"/>
                </a:solidFill>
                <a:effectLst>
                  <a:outerShdw blurRad="101600" dist="63500" dir="2700000" algn="tl" rotWithShape="0">
                    <a:prstClr val="black">
                      <a:alpha val="75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spcBef>
                <a:spcPts val="2000"/>
              </a:spcBef>
              <a:buFontTx/>
              <a:buNone/>
            </a:pPr>
            <a:r>
              <a:rPr lang="en-US" smtClean="0"/>
              <a:t>Click to edit Master text styles</a:t>
            </a:r>
          </a:p>
        </p:txBody>
      </p:sp>
      <p:sp>
        <p:nvSpPr>
          <p:cNvPr id="5" name="Date Placeholder 4"/>
          <p:cNvSpPr>
            <a:spLocks noGrp="1"/>
          </p:cNvSpPr>
          <p:nvPr>
            <p:ph type="dt" sz="half" idx="10"/>
          </p:nvPr>
        </p:nvSpPr>
        <p:spPr/>
        <p:txBody>
          <a:bodyPr/>
          <a:lstStyle/>
          <a:p>
            <a:fld id="{7651D5E1-5177-624D-9A19-0C8E25D20861}" type="datetimeFigureOut">
              <a:rPr lang="en-US" smtClean="0"/>
              <a:t>10/6/13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A524A3-5906-4A4B-A64A-8198987E854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777240" y="3962399"/>
            <a:ext cx="7585710" cy="672353"/>
          </a:xfrm>
        </p:spPr>
        <p:txBody>
          <a:bodyPr anchor="b">
            <a:normAutofit/>
          </a:bodyPr>
          <a:lstStyle>
            <a:lvl1pPr algn="ctr">
              <a:defRPr sz="3600" b="1" kern="1200">
                <a:solidFill>
                  <a:schemeClr val="tx1"/>
                </a:solidFill>
                <a:effectLst>
                  <a:outerShdw blurRad="101600" dist="63500" dir="2700000" algn="tl" rotWithShape="0">
                    <a:prstClr val="black">
                      <a:alpha val="75000"/>
                    </a:prstClr>
                  </a:outerShdw>
                </a:effectLst>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3101957" y="457200"/>
            <a:ext cx="2940087" cy="2940087"/>
          </a:xfrm>
          <a:prstGeom prst="ellipse">
            <a:avLst/>
          </a:prstGeom>
          <a:solidFill>
            <a:schemeClr val="tx1">
              <a:lumMod val="75000"/>
            </a:schemeClr>
          </a:solidFill>
          <a:ln w="63500">
            <a:solidFill>
              <a:schemeClr val="tx1"/>
            </a:solidFill>
          </a:ln>
          <a:effectLst>
            <a:outerShdw blurRad="254000" dist="152400" dir="5400000" sx="90000" sy="-19000" rotWithShape="0">
              <a:prstClr val="black">
                <a:alpha val="20000"/>
              </a:prstClr>
            </a:outerShdw>
          </a:effectLst>
        </p:spPr>
        <p:txBody>
          <a:bodyPr vert="horz" lIns="91440" tIns="45720" rIns="91440" bIns="45720" rtlCol="0">
            <a:normAutofit/>
          </a:bodyPr>
          <a:lstStyle>
            <a:lvl1pPr marL="0" indent="0" algn="l" defTabSz="914400" rtl="0" eaLnBrk="1" latinLnBrk="0" hangingPunct="1">
              <a:spcBef>
                <a:spcPts val="2000"/>
              </a:spcBef>
              <a:buFontTx/>
              <a:buNone/>
              <a:defRPr sz="2400" b="1" kern="1200">
                <a:solidFill>
                  <a:schemeClr val="tx1"/>
                </a:solidFill>
                <a:effectLst>
                  <a:outerShdw blurRad="101600" dist="63500" dir="2700000" algn="tl" rotWithShape="0">
                    <a:prstClr val="black">
                      <a:alpha val="75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777240" y="4639235"/>
            <a:ext cx="7585710" cy="1371600"/>
          </a:xfrm>
        </p:spPr>
        <p:txBody>
          <a:bodyPr vert="horz" lIns="91440" tIns="45720" rIns="91440" bIns="45720" rtlCol="0">
            <a:normAutofit/>
          </a:bodyPr>
          <a:lstStyle>
            <a:lvl1pPr marL="0" indent="0" algn="ctr">
              <a:spcBef>
                <a:spcPts val="0"/>
              </a:spcBef>
              <a:buNone/>
              <a:defRPr sz="2000" b="1" kern="1200">
                <a:solidFill>
                  <a:schemeClr val="tx1"/>
                </a:solidFill>
                <a:effectLst>
                  <a:outerShdw blurRad="101600" dist="63500" dir="2700000" algn="tl" rotWithShape="0">
                    <a:prstClr val="black">
                      <a:alpha val="75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spcBef>
                <a:spcPts val="2000"/>
              </a:spcBef>
              <a:buFontTx/>
              <a:buNone/>
            </a:pPr>
            <a:r>
              <a:rPr lang="en-US" smtClean="0"/>
              <a:t>Click to edit Master text styles</a:t>
            </a:r>
          </a:p>
        </p:txBody>
      </p:sp>
      <p:sp>
        <p:nvSpPr>
          <p:cNvPr id="5" name="Date Placeholder 4"/>
          <p:cNvSpPr>
            <a:spLocks noGrp="1"/>
          </p:cNvSpPr>
          <p:nvPr>
            <p:ph type="dt" sz="half" idx="10"/>
          </p:nvPr>
        </p:nvSpPr>
        <p:spPr/>
        <p:txBody>
          <a:bodyPr/>
          <a:lstStyle/>
          <a:p>
            <a:fld id="{7651D5E1-5177-624D-9A19-0C8E25D20861}" type="datetimeFigureOut">
              <a:rPr lang="en-US" smtClean="0"/>
              <a:t>10/6/13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2AA694-00EB-4F4B-AABB-6F50FB17891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7651D5E1-5177-624D-9A19-0C8E25D20861}" type="datetimeFigureOut">
              <a:rPr lang="en-US" smtClean="0"/>
              <a:t>10/6/13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524A3-5906-4A4B-A64A-8198987E854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19365" y="416859"/>
            <a:ext cx="1940859" cy="5607424"/>
          </a:xfrm>
        </p:spPr>
        <p:txBody>
          <a:bodyPr vert="eaVert" anchor="ctr" anchorCtr="0"/>
          <a:lstStyle/>
          <a:p>
            <a:r>
              <a:rPr lang="en-US" smtClean="0"/>
              <a:t>Click to edit Master title style</a:t>
            </a:r>
            <a:endParaRPr/>
          </a:p>
        </p:txBody>
      </p:sp>
      <p:sp>
        <p:nvSpPr>
          <p:cNvPr id="3" name="Vertical Text Placeholder 2"/>
          <p:cNvSpPr>
            <a:spLocks noGrp="1"/>
          </p:cNvSpPr>
          <p:nvPr>
            <p:ph type="body" orient="vert" idx="1"/>
          </p:nvPr>
        </p:nvSpPr>
        <p:spPr>
          <a:xfrm>
            <a:off x="820737" y="414015"/>
            <a:ext cx="6144839" cy="5610268"/>
          </a:xfrm>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7651D5E1-5177-624D-9A19-0C8E25D20861}" type="datetimeFigureOut">
              <a:rPr lang="en-US" smtClean="0"/>
              <a:t>10/6/13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A524A3-5906-4A4B-A64A-8198987E854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2.png"/><Relationship Id="rId15"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GridOverlay.png"/>
          <p:cNvPicPr>
            <a:picLocks noChangeAspect="1"/>
          </p:cNvPicPr>
          <p:nvPr/>
        </p:nvPicPr>
        <p:blipFill>
          <a:blip r:embed="rId14"/>
          <a:stretch>
            <a:fillRect/>
          </a:stretch>
        </p:blipFill>
        <p:spPr>
          <a:xfrm>
            <a:off x="0" y="0"/>
            <a:ext cx="9144000" cy="6858000"/>
          </a:xfrm>
          <a:prstGeom prst="rect">
            <a:avLst/>
          </a:prstGeom>
          <a:solidFill>
            <a:schemeClr val="bg2">
              <a:lumMod val="60000"/>
              <a:lumOff val="40000"/>
              <a:alpha val="10000"/>
            </a:schemeClr>
          </a:solidFill>
        </p:spPr>
      </p:pic>
      <p:sp>
        <p:nvSpPr>
          <p:cNvPr id="2" name="Title Placeholder 1"/>
          <p:cNvSpPr>
            <a:spLocks noGrp="1"/>
          </p:cNvSpPr>
          <p:nvPr>
            <p:ph type="title"/>
          </p:nvPr>
        </p:nvSpPr>
        <p:spPr>
          <a:xfrm>
            <a:off x="779462" y="107577"/>
            <a:ext cx="7581901" cy="1653988"/>
          </a:xfrm>
          <a:prstGeom prst="rect">
            <a:avLst/>
          </a:prstGeom>
        </p:spPr>
        <p:txBody>
          <a:bodyPr vert="horz" lIns="91440" tIns="45720" rIns="91440" bIns="45720" rtlCol="0" anchor="ctr">
            <a:noAutofit/>
          </a:bodyPr>
          <a:lstStyle/>
          <a:p>
            <a:r>
              <a:rPr lang="en-US" smtClean="0"/>
              <a:t>Click to edit Master title style</a:t>
            </a:r>
            <a:endParaRPr/>
          </a:p>
        </p:txBody>
      </p:sp>
      <p:sp>
        <p:nvSpPr>
          <p:cNvPr id="3" name="Text Placeholder 2"/>
          <p:cNvSpPr>
            <a:spLocks noGrp="1"/>
          </p:cNvSpPr>
          <p:nvPr>
            <p:ph type="body" idx="1"/>
          </p:nvPr>
        </p:nvSpPr>
        <p:spPr>
          <a:xfrm>
            <a:off x="779462" y="1882588"/>
            <a:ext cx="7581901" cy="395343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2"/>
          </p:nvPr>
        </p:nvSpPr>
        <p:spPr>
          <a:xfrm>
            <a:off x="6651812" y="6356350"/>
            <a:ext cx="2133600" cy="365125"/>
          </a:xfrm>
          <a:prstGeom prst="rect">
            <a:avLst/>
          </a:prstGeom>
        </p:spPr>
        <p:txBody>
          <a:bodyPr vert="horz" lIns="91440" tIns="45720" rIns="91440" bIns="45720" rtlCol="0" anchor="ctr"/>
          <a:lstStyle>
            <a:lvl1pPr algn="r">
              <a:defRPr sz="1100">
                <a:solidFill>
                  <a:schemeClr val="tx1">
                    <a:tint val="75000"/>
                  </a:schemeClr>
                </a:solidFill>
                <a:effectLst>
                  <a:outerShdw blurRad="101600" dist="63500" dir="2700000" algn="tl" rotWithShape="0">
                    <a:prstClr val="black">
                      <a:alpha val="75000"/>
                    </a:prstClr>
                  </a:outerShdw>
                </a:effectLst>
              </a:defRPr>
            </a:lvl1pPr>
          </a:lstStyle>
          <a:p>
            <a:fld id="{7651D5E1-5177-624D-9A19-0C8E25D20861}" type="datetimeFigureOut">
              <a:rPr lang="en-US" smtClean="0"/>
              <a:t>10/6/13</a:t>
            </a:fld>
            <a:endParaRPr lang="en-US"/>
          </a:p>
        </p:txBody>
      </p:sp>
      <p:sp>
        <p:nvSpPr>
          <p:cNvPr id="5" name="Footer Placeholder 4"/>
          <p:cNvSpPr>
            <a:spLocks noGrp="1"/>
          </p:cNvSpPr>
          <p:nvPr>
            <p:ph type="ftr" sz="quarter" idx="3"/>
          </p:nvPr>
        </p:nvSpPr>
        <p:spPr>
          <a:xfrm>
            <a:off x="354106" y="6356350"/>
            <a:ext cx="2895600" cy="365125"/>
          </a:xfrm>
          <a:prstGeom prst="rect">
            <a:avLst/>
          </a:prstGeom>
        </p:spPr>
        <p:txBody>
          <a:bodyPr vert="horz" lIns="91440" tIns="45720" rIns="91440" bIns="45720" rtlCol="0" anchor="ctr"/>
          <a:lstStyle>
            <a:lvl1pPr algn="l">
              <a:defRPr sz="1100">
                <a:solidFill>
                  <a:schemeClr val="tx1">
                    <a:tint val="75000"/>
                  </a:schemeClr>
                </a:solidFill>
                <a:effectLst>
                  <a:outerShdw blurRad="101600" dist="63500" dir="2700000" algn="tl" rotWithShape="0">
                    <a:prstClr val="black">
                      <a:alpha val="75000"/>
                    </a:prstClr>
                  </a:outerShdw>
                </a:effectLst>
              </a:defRPr>
            </a:lvl1pPr>
          </a:lstStyle>
          <a:p>
            <a:endParaRPr lang="en-US"/>
          </a:p>
        </p:txBody>
      </p:sp>
      <p:sp>
        <p:nvSpPr>
          <p:cNvPr id="6" name="Slide Number Placeholder 5"/>
          <p:cNvSpPr>
            <a:spLocks noGrp="1"/>
          </p:cNvSpPr>
          <p:nvPr>
            <p:ph type="sldNum" sz="quarter" idx="4"/>
          </p:nvPr>
        </p:nvSpPr>
        <p:spPr>
          <a:xfrm>
            <a:off x="4191000" y="6356350"/>
            <a:ext cx="762000" cy="365125"/>
          </a:xfrm>
          <a:prstGeom prst="rect">
            <a:avLst/>
          </a:prstGeom>
        </p:spPr>
        <p:txBody>
          <a:bodyPr vert="horz" lIns="91440" tIns="45720" rIns="91440" bIns="45720" rtlCol="0" anchor="ctr"/>
          <a:lstStyle>
            <a:lvl1pPr algn="ctr">
              <a:defRPr sz="1100">
                <a:solidFill>
                  <a:schemeClr val="tx1">
                    <a:tint val="75000"/>
                  </a:schemeClr>
                </a:solidFill>
                <a:effectLst>
                  <a:outerShdw blurRad="101600" dist="63500" dir="2700000" algn="tl" rotWithShape="0">
                    <a:prstClr val="black">
                      <a:alpha val="75000"/>
                    </a:prstClr>
                  </a:outerShdw>
                </a:effectLst>
              </a:defRPr>
            </a:lvl1pPr>
          </a:lstStyle>
          <a:p>
            <a:fld id="{8DA524A3-5906-4A4B-A64A-8198987E854F}"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Lst>
  <p:txStyles>
    <p:titleStyle>
      <a:lvl1pPr algn="ctr" defTabSz="914400" rtl="0" eaLnBrk="1" latinLnBrk="0" hangingPunct="1">
        <a:spcBef>
          <a:spcPct val="0"/>
        </a:spcBef>
        <a:buNone/>
        <a:defRPr sz="5600" b="1" kern="1200">
          <a:solidFill>
            <a:schemeClr val="tx1"/>
          </a:solidFill>
          <a:effectLst>
            <a:outerShdw blurRad="101600" dist="63500" dir="2700000" algn="tl" rotWithShape="0">
              <a:prstClr val="black">
                <a:alpha val="75000"/>
              </a:prstClr>
            </a:outerShdw>
          </a:effectLst>
          <a:latin typeface="+mj-lt"/>
          <a:ea typeface="+mj-ea"/>
          <a:cs typeface="+mj-cs"/>
        </a:defRPr>
      </a:lvl1pPr>
    </p:titleStyle>
    <p:bodyStyle>
      <a:lvl1pPr marL="403225" indent="-403225" algn="l" defTabSz="914400" rtl="0" eaLnBrk="1" latinLnBrk="0" hangingPunct="1">
        <a:spcBef>
          <a:spcPts val="2000"/>
        </a:spcBef>
        <a:buFontTx/>
        <a:buBlip>
          <a:blip r:embed="rId15"/>
        </a:buBlip>
        <a:defRPr sz="2400" b="1" kern="1200">
          <a:solidFill>
            <a:schemeClr val="tx1"/>
          </a:solidFill>
          <a:effectLst>
            <a:outerShdw blurRad="101600" dist="63500" dir="2700000" algn="tl" rotWithShape="0">
              <a:prstClr val="black">
                <a:alpha val="75000"/>
              </a:prstClr>
            </a:outerShdw>
          </a:effectLst>
          <a:latin typeface="+mn-lt"/>
          <a:ea typeface="+mn-ea"/>
          <a:cs typeface="+mn-cs"/>
        </a:defRPr>
      </a:lvl1pPr>
      <a:lvl2pPr marL="806450" indent="-403225" algn="l" defTabSz="914400" rtl="0" eaLnBrk="1" latinLnBrk="0" hangingPunct="1">
        <a:spcBef>
          <a:spcPts val="600"/>
        </a:spcBef>
        <a:buFontTx/>
        <a:buBlip>
          <a:blip r:embed="rId15"/>
        </a:buBlip>
        <a:defRPr sz="2200" b="1" kern="1200">
          <a:solidFill>
            <a:schemeClr val="tx1"/>
          </a:solidFill>
          <a:effectLst>
            <a:outerShdw blurRad="101600" dist="63500" dir="2700000" algn="tl" rotWithShape="0">
              <a:prstClr val="black">
                <a:alpha val="75000"/>
              </a:prstClr>
            </a:outerShdw>
          </a:effectLst>
          <a:latin typeface="+mn-lt"/>
          <a:ea typeface="+mn-ea"/>
          <a:cs typeface="+mn-cs"/>
        </a:defRPr>
      </a:lvl2pPr>
      <a:lvl3pPr marL="1143000" indent="-336550" algn="l" defTabSz="914400" rtl="0" eaLnBrk="1" latinLnBrk="0" hangingPunct="1">
        <a:spcBef>
          <a:spcPts val="600"/>
        </a:spcBef>
        <a:buFontTx/>
        <a:buBlip>
          <a:blip r:embed="rId15"/>
        </a:buBlip>
        <a:defRPr sz="2000" b="1" kern="1200">
          <a:solidFill>
            <a:schemeClr val="tx1"/>
          </a:solidFill>
          <a:effectLst>
            <a:outerShdw blurRad="101600" dist="63500" dir="2700000" algn="tl" rotWithShape="0">
              <a:prstClr val="black">
                <a:alpha val="75000"/>
              </a:prstClr>
            </a:outerShdw>
          </a:effectLst>
          <a:latin typeface="+mn-lt"/>
          <a:ea typeface="+mn-ea"/>
          <a:cs typeface="+mn-cs"/>
        </a:defRPr>
      </a:lvl3pPr>
      <a:lvl4pPr marL="1492250" indent="-349250" algn="l" defTabSz="914400" rtl="0" eaLnBrk="1" latinLnBrk="0" hangingPunct="1">
        <a:spcBef>
          <a:spcPts val="600"/>
        </a:spcBef>
        <a:buFontTx/>
        <a:buBlip>
          <a:blip r:embed="rId15"/>
        </a:buBlip>
        <a:defRPr sz="1800" b="1" kern="1200">
          <a:solidFill>
            <a:schemeClr val="tx1"/>
          </a:solidFill>
          <a:effectLst>
            <a:outerShdw blurRad="101600" dist="63500" dir="2700000" algn="tl" rotWithShape="0">
              <a:prstClr val="black">
                <a:alpha val="75000"/>
              </a:prstClr>
            </a:outerShdw>
          </a:effectLst>
          <a:latin typeface="+mn-lt"/>
          <a:ea typeface="+mn-ea"/>
          <a:cs typeface="+mn-cs"/>
        </a:defRPr>
      </a:lvl4pPr>
      <a:lvl5pPr marL="1828800" indent="-336550" algn="l" defTabSz="914400" rtl="0" eaLnBrk="1" latinLnBrk="0" hangingPunct="1">
        <a:spcBef>
          <a:spcPts val="600"/>
        </a:spcBef>
        <a:buFontTx/>
        <a:buBlip>
          <a:blip r:embed="rId15"/>
        </a:buBlip>
        <a:defRPr sz="1800" b="1" kern="1200">
          <a:solidFill>
            <a:schemeClr val="tx1"/>
          </a:solidFill>
          <a:effectLst>
            <a:outerShdw blurRad="101600" dist="63500" dir="2700000" algn="tl" rotWithShape="0">
              <a:prstClr val="black">
                <a:alpha val="75000"/>
              </a:prstClr>
            </a:outerShdw>
          </a:effectLst>
          <a:latin typeface="+mn-lt"/>
          <a:ea typeface="+mn-ea"/>
          <a:cs typeface="+mn-cs"/>
        </a:defRPr>
      </a:lvl5pPr>
      <a:lvl6pPr marL="2173288" indent="-344488" algn="l" defTabSz="914400" rtl="0" eaLnBrk="1" latinLnBrk="0" hangingPunct="1">
        <a:spcBef>
          <a:spcPct val="20000"/>
        </a:spcBef>
        <a:buFontTx/>
        <a:buBlip>
          <a:blip r:embed="rId15"/>
        </a:buBlip>
        <a:defRPr lang="en-US" sz="1800" b="1" kern="1200" dirty="0" smtClean="0">
          <a:solidFill>
            <a:schemeClr val="tx1"/>
          </a:solidFill>
          <a:effectLst>
            <a:outerShdw blurRad="101600" dist="63500" dir="2700000" algn="tl" rotWithShape="0">
              <a:prstClr val="black">
                <a:alpha val="75000"/>
              </a:prstClr>
            </a:outerShdw>
          </a:effectLst>
          <a:latin typeface="+mn-lt"/>
          <a:ea typeface="+mn-ea"/>
          <a:cs typeface="+mn-cs"/>
        </a:defRPr>
      </a:lvl6pPr>
      <a:lvl7pPr marL="2516188" indent="-344488" algn="l" defTabSz="914400" rtl="0" eaLnBrk="1" latinLnBrk="0" hangingPunct="1">
        <a:spcBef>
          <a:spcPct val="20000"/>
        </a:spcBef>
        <a:buFontTx/>
        <a:buBlip>
          <a:blip r:embed="rId15"/>
        </a:buBlip>
        <a:defRPr lang="en-US" sz="1800" b="1" kern="1200" dirty="0" smtClean="0">
          <a:solidFill>
            <a:schemeClr val="tx1"/>
          </a:solidFill>
          <a:effectLst>
            <a:outerShdw blurRad="101600" dist="63500" dir="2700000" algn="tl" rotWithShape="0">
              <a:prstClr val="black">
                <a:alpha val="75000"/>
              </a:prstClr>
            </a:outerShdw>
          </a:effectLst>
          <a:latin typeface="+mn-lt"/>
          <a:ea typeface="+mn-ea"/>
          <a:cs typeface="+mn-cs"/>
        </a:defRPr>
      </a:lvl7pPr>
      <a:lvl8pPr marL="2860675" indent="-344488" algn="l" defTabSz="914400" rtl="0" eaLnBrk="1" latinLnBrk="0" hangingPunct="1">
        <a:spcBef>
          <a:spcPct val="20000"/>
        </a:spcBef>
        <a:buFontTx/>
        <a:buBlip>
          <a:blip r:embed="rId15"/>
        </a:buBlip>
        <a:defRPr lang="en-US" sz="1800" b="1" kern="1200" dirty="0" smtClean="0">
          <a:solidFill>
            <a:schemeClr val="tx1"/>
          </a:solidFill>
          <a:effectLst>
            <a:outerShdw blurRad="101600" dist="63500" dir="2700000" algn="tl" rotWithShape="0">
              <a:prstClr val="black">
                <a:alpha val="75000"/>
              </a:prstClr>
            </a:outerShdw>
          </a:effectLst>
          <a:latin typeface="+mn-lt"/>
          <a:ea typeface="+mn-ea"/>
          <a:cs typeface="+mn-cs"/>
        </a:defRPr>
      </a:lvl8pPr>
      <a:lvl9pPr marL="3205163" indent="-344488" algn="l" defTabSz="914400" rtl="0" eaLnBrk="1" latinLnBrk="0" hangingPunct="1">
        <a:spcBef>
          <a:spcPct val="20000"/>
        </a:spcBef>
        <a:buFontTx/>
        <a:buBlip>
          <a:blip r:embed="rId15"/>
        </a:buBlip>
        <a:defRPr lang="en-US" sz="1800" b="1" kern="1200" dirty="0">
          <a:solidFill>
            <a:schemeClr val="tx1"/>
          </a:solidFill>
          <a:effectLst>
            <a:outerShdw blurRad="101600" dist="63500" dir="2700000" algn="tl" rotWithShape="0">
              <a:prstClr val="black">
                <a:alpha val="75000"/>
              </a:prstClr>
            </a:outerShdw>
          </a:effectLst>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4" Type="http://schemas.openxmlformats.org/officeDocument/2006/relationships/image" Target="../media/image7.jpg"/><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youtube.com/watch?v=s4ZkOmbavgs%23t=1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youtube.com/watch?v=BraU_cpfBeI"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youtube.com/watch?v=BraU_cpfBeI"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4" Type="http://schemas.openxmlformats.org/officeDocument/2006/relationships/image" Target="../media/image11.jpeg"/><Relationship Id="rId5"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youtube.com/watch?v=mn-zvymlSvk"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youtube.com/watch?v=ukrDPyPPYnE" TargetMode="External"/><Relationship Id="rId3" Type="http://schemas.openxmlformats.org/officeDocument/2006/relationships/hyperlink" Target="http://alpha.zooburst.com/index.php?viewbook=21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hyperlink" Target="http://www.youtube.com/watch?v=uVDxMr-47kU"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youtube.com/watch?v=XtJ1ZrPu-0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youtube.com/watch?v=iaaHcH9nQmI"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6176" y="4343766"/>
            <a:ext cx="7542212" cy="1013012"/>
          </a:xfrm>
        </p:spPr>
        <p:txBody>
          <a:bodyPr/>
          <a:lstStyle/>
          <a:p>
            <a:r>
              <a:rPr lang="en-US" spc="200" dirty="0" smtClean="0">
                <a:ln w="29210">
                  <a:solidFill>
                    <a:schemeClr val="accent3">
                      <a:tint val="10000"/>
                    </a:schemeClr>
                  </a:solidFill>
                </a:ln>
                <a:solidFill>
                  <a:schemeClr val="accent3">
                    <a:satMod val="200000"/>
                    <a:alpha val="50000"/>
                  </a:schemeClr>
                </a:solidFill>
                <a:effectLst>
                  <a:innerShdw blurRad="50800" dist="50800" dir="8100000">
                    <a:srgbClr val="7D7D7D">
                      <a:alpha val="73000"/>
                    </a:srgbClr>
                  </a:innerShdw>
                </a:effectLst>
                <a:latin typeface="Times New Roman"/>
                <a:cs typeface="Times New Roman"/>
              </a:rPr>
              <a:t>Applied Perception</a:t>
            </a:r>
            <a:endParaRPr lang="en-US" spc="200" dirty="0">
              <a:ln w="29210">
                <a:solidFill>
                  <a:schemeClr val="accent3">
                    <a:tint val="10000"/>
                  </a:schemeClr>
                </a:solidFill>
              </a:ln>
              <a:solidFill>
                <a:schemeClr val="accent3">
                  <a:satMod val="200000"/>
                  <a:alpha val="50000"/>
                </a:schemeClr>
              </a:solidFill>
              <a:effectLst>
                <a:innerShdw blurRad="50800" dist="50800" dir="8100000">
                  <a:srgbClr val="7D7D7D">
                    <a:alpha val="73000"/>
                  </a:srgbClr>
                </a:innerShdw>
              </a:effectLst>
              <a:latin typeface="Times New Roman"/>
              <a:cs typeface="Times New Roman"/>
            </a:endParaRPr>
          </a:p>
        </p:txBody>
      </p:sp>
      <p:sp>
        <p:nvSpPr>
          <p:cNvPr id="3" name="Subtitle 2"/>
          <p:cNvSpPr>
            <a:spLocks noGrp="1"/>
          </p:cNvSpPr>
          <p:nvPr>
            <p:ph type="subTitle" idx="1"/>
          </p:nvPr>
        </p:nvSpPr>
        <p:spPr/>
        <p:txBody>
          <a:bodyPr/>
          <a:lstStyle/>
          <a:p>
            <a:r>
              <a:rPr lang="en-US" dirty="0" smtClean="0"/>
              <a:t>By Piter Garcia</a:t>
            </a:r>
            <a:endParaRPr lang="en-US" dirty="0"/>
          </a:p>
        </p:txBody>
      </p:sp>
      <p:sp>
        <p:nvSpPr>
          <p:cNvPr id="4" name="Rectangle 3"/>
          <p:cNvSpPr/>
          <p:nvPr/>
        </p:nvSpPr>
        <p:spPr>
          <a:xfrm>
            <a:off x="1710560" y="1923961"/>
            <a:ext cx="5873761" cy="1991892"/>
          </a:xfrm>
          <a:prstGeom prst="rect">
            <a:avLst/>
          </a:prstGeom>
          <a:noFill/>
          <a:effectLst>
            <a:glow rad="228600">
              <a:schemeClr val="accent1">
                <a:satMod val="175000"/>
                <a:alpha val="40000"/>
              </a:schemeClr>
            </a:glow>
          </a:effectLst>
          <a:scene3d>
            <a:camera prst="orthographicFront"/>
            <a:lightRig rig="threePt" dir="t"/>
          </a:scene3d>
          <a:sp3d>
            <a:bevelT prst="relaxedInset"/>
            <a:bevelB w="139700" prst="cross"/>
          </a:sp3d>
        </p:spPr>
        <p:txBody>
          <a:bodyPr wrap="none" lIns="91440" tIns="45720" rIns="91440" bIns="45720">
            <a:prstTxWarp prst="textTriangleInverted">
              <a:avLst/>
            </a:prstTxWarp>
            <a:spAutoFit/>
          </a:bodyPr>
          <a:lstStyle/>
          <a:p>
            <a:pPr algn="ctr"/>
            <a:r>
              <a:rPr lang="en-US" sz="5400" b="1" dirty="0"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rPr>
              <a:t>Augmented Reality</a:t>
            </a:r>
            <a:endParaRPr lang="en-US" sz="5400" b="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endParaRPr>
          </a:p>
        </p:txBody>
      </p:sp>
      <p:sp>
        <p:nvSpPr>
          <p:cNvPr id="12" name="TextBox 11"/>
          <p:cNvSpPr txBox="1"/>
          <p:nvPr/>
        </p:nvSpPr>
        <p:spPr>
          <a:xfrm>
            <a:off x="10360476" y="2665865"/>
            <a:ext cx="184666" cy="369332"/>
          </a:xfrm>
          <a:prstGeom prst="rect">
            <a:avLst/>
          </a:prstGeom>
          <a:noFill/>
        </p:spPr>
        <p:txBody>
          <a:bodyPr wrap="none" rtlCol="0">
            <a:spAutoFit/>
          </a:bodyPr>
          <a:lstStyle/>
          <a:p>
            <a:endParaRPr lang="en-US" dirty="0"/>
          </a:p>
        </p:txBody>
      </p:sp>
      <p:sp>
        <p:nvSpPr>
          <p:cNvPr id="13" name="TextBox 12"/>
          <p:cNvSpPr txBox="1"/>
          <p:nvPr/>
        </p:nvSpPr>
        <p:spPr>
          <a:xfrm>
            <a:off x="11289681" y="4412723"/>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860995516"/>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cess 4"/>
          <p:cNvSpPr/>
          <p:nvPr/>
        </p:nvSpPr>
        <p:spPr>
          <a:xfrm>
            <a:off x="3419693" y="91527"/>
            <a:ext cx="2313504" cy="943112"/>
          </a:xfrm>
          <a:prstGeom prst="flowChartProcess">
            <a:avLst/>
          </a:prstGeom>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chemeClr val="bg1"/>
                </a:solidFill>
                <a:latin typeface="Times New Roman"/>
                <a:cs typeface="Times New Roman"/>
              </a:rPr>
              <a:t>Augmented Reality</a:t>
            </a:r>
            <a:endParaRPr lang="en-US" b="1" dirty="0">
              <a:solidFill>
                <a:schemeClr val="bg1"/>
              </a:solidFill>
              <a:latin typeface="Times New Roman"/>
              <a:cs typeface="Times New Roman"/>
            </a:endParaRPr>
          </a:p>
        </p:txBody>
      </p:sp>
      <p:sp>
        <p:nvSpPr>
          <p:cNvPr id="6" name="Terminator 5"/>
          <p:cNvSpPr/>
          <p:nvPr/>
        </p:nvSpPr>
        <p:spPr>
          <a:xfrm>
            <a:off x="761092" y="1298687"/>
            <a:ext cx="2062036" cy="779639"/>
          </a:xfrm>
          <a:prstGeom prst="flowChartTerminator">
            <a:avLst/>
          </a:prstGeom>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rgbClr val="000000"/>
                </a:solidFill>
                <a:latin typeface="Times New Roman"/>
                <a:cs typeface="Times New Roman"/>
              </a:rPr>
              <a:t>Architecture</a:t>
            </a:r>
            <a:endParaRPr lang="en-US" b="1" dirty="0">
              <a:solidFill>
                <a:srgbClr val="000000"/>
              </a:solidFill>
              <a:latin typeface="Times New Roman"/>
              <a:cs typeface="Times New Roman"/>
            </a:endParaRPr>
          </a:p>
        </p:txBody>
      </p:sp>
      <p:sp>
        <p:nvSpPr>
          <p:cNvPr id="7" name="Terminator 6"/>
          <p:cNvSpPr/>
          <p:nvPr/>
        </p:nvSpPr>
        <p:spPr>
          <a:xfrm>
            <a:off x="3545427" y="1380445"/>
            <a:ext cx="2062036" cy="779639"/>
          </a:xfrm>
          <a:prstGeom prst="flowChartTerminator">
            <a:avLst/>
          </a:prstGeom>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rgbClr val="000000"/>
                </a:solidFill>
                <a:latin typeface="Times New Roman"/>
                <a:cs typeface="Times New Roman"/>
              </a:rPr>
              <a:t>Education</a:t>
            </a:r>
            <a:endParaRPr lang="en-US" b="1" dirty="0">
              <a:solidFill>
                <a:srgbClr val="000000"/>
              </a:solidFill>
              <a:latin typeface="Times New Roman"/>
              <a:cs typeface="Times New Roman"/>
            </a:endParaRPr>
          </a:p>
        </p:txBody>
      </p:sp>
      <p:sp>
        <p:nvSpPr>
          <p:cNvPr id="8" name="Terminator 7"/>
          <p:cNvSpPr/>
          <p:nvPr/>
        </p:nvSpPr>
        <p:spPr>
          <a:xfrm>
            <a:off x="6362688" y="1298687"/>
            <a:ext cx="2062036" cy="779639"/>
          </a:xfrm>
          <a:prstGeom prst="flowChartTerminator">
            <a:avLst/>
          </a:prstGeom>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rgbClr val="000000"/>
                </a:solidFill>
                <a:latin typeface="Times New Roman"/>
                <a:cs typeface="Times New Roman"/>
              </a:rPr>
              <a:t>Activities</a:t>
            </a:r>
            <a:endParaRPr lang="en-US" b="1" dirty="0">
              <a:solidFill>
                <a:srgbClr val="000000"/>
              </a:solidFill>
              <a:latin typeface="Times New Roman"/>
              <a:cs typeface="Times New Roman"/>
            </a:endParaRPr>
          </a:p>
        </p:txBody>
      </p:sp>
      <p:sp>
        <p:nvSpPr>
          <p:cNvPr id="9" name="Preparation 8"/>
          <p:cNvSpPr/>
          <p:nvPr/>
        </p:nvSpPr>
        <p:spPr>
          <a:xfrm>
            <a:off x="3545427" y="2655150"/>
            <a:ext cx="2062036" cy="1106585"/>
          </a:xfrm>
          <a:prstGeom prst="flowChartPreparation">
            <a:avLst/>
          </a:prstGeom>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rgbClr val="000000"/>
                </a:solidFill>
                <a:latin typeface="Times New Roman"/>
                <a:cs typeface="Times New Roman"/>
              </a:rPr>
              <a:t>Applied Perception</a:t>
            </a:r>
            <a:endParaRPr lang="en-US" b="1" dirty="0">
              <a:solidFill>
                <a:srgbClr val="000000"/>
              </a:solidFill>
              <a:latin typeface="Times New Roman"/>
              <a:cs typeface="Times New Roman"/>
            </a:endParaRPr>
          </a:p>
        </p:txBody>
      </p:sp>
      <p:cxnSp>
        <p:nvCxnSpPr>
          <p:cNvPr id="11" name="Straight Arrow Connector 10"/>
          <p:cNvCxnSpPr>
            <a:stCxn id="5" idx="2"/>
            <a:endCxn id="7" idx="0"/>
          </p:cNvCxnSpPr>
          <p:nvPr/>
        </p:nvCxnSpPr>
        <p:spPr>
          <a:xfrm>
            <a:off x="4576445" y="1034639"/>
            <a:ext cx="0" cy="345806"/>
          </a:xfrm>
          <a:prstGeom prst="straightConnector1">
            <a:avLst/>
          </a:prstGeom>
          <a:ln>
            <a:solidFill>
              <a:srgbClr val="3366FF"/>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stCxn id="7" idx="2"/>
            <a:endCxn id="9" idx="0"/>
          </p:cNvCxnSpPr>
          <p:nvPr/>
        </p:nvCxnSpPr>
        <p:spPr>
          <a:xfrm>
            <a:off x="4576445" y="2160084"/>
            <a:ext cx="0" cy="495066"/>
          </a:xfrm>
          <a:prstGeom prst="straightConnector1">
            <a:avLst/>
          </a:prstGeom>
          <a:ln>
            <a:solidFill>
              <a:srgbClr val="3366FF"/>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stCxn id="5" idx="1"/>
            <a:endCxn id="6" idx="0"/>
          </p:cNvCxnSpPr>
          <p:nvPr/>
        </p:nvCxnSpPr>
        <p:spPr>
          <a:xfrm flipH="1">
            <a:off x="1792110" y="563083"/>
            <a:ext cx="1627583" cy="735604"/>
          </a:xfrm>
          <a:prstGeom prst="straightConnector1">
            <a:avLst/>
          </a:prstGeom>
          <a:ln>
            <a:solidFill>
              <a:srgbClr val="3366FF"/>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a:stCxn id="5" idx="3"/>
            <a:endCxn id="8" idx="0"/>
          </p:cNvCxnSpPr>
          <p:nvPr/>
        </p:nvCxnSpPr>
        <p:spPr>
          <a:xfrm>
            <a:off x="5733197" y="563083"/>
            <a:ext cx="1660509" cy="735604"/>
          </a:xfrm>
          <a:prstGeom prst="straightConnector1">
            <a:avLst/>
          </a:prstGeom>
          <a:ln>
            <a:solidFill>
              <a:srgbClr val="3366FF"/>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a:stCxn id="6" idx="2"/>
            <a:endCxn id="9" idx="1"/>
          </p:cNvCxnSpPr>
          <p:nvPr/>
        </p:nvCxnSpPr>
        <p:spPr>
          <a:xfrm>
            <a:off x="1792110" y="2078326"/>
            <a:ext cx="1753317" cy="1130117"/>
          </a:xfrm>
          <a:prstGeom prst="straightConnector1">
            <a:avLst/>
          </a:prstGeom>
          <a:ln>
            <a:solidFill>
              <a:srgbClr val="3366FF"/>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stCxn id="8" idx="2"/>
            <a:endCxn id="9" idx="3"/>
          </p:cNvCxnSpPr>
          <p:nvPr/>
        </p:nvCxnSpPr>
        <p:spPr>
          <a:xfrm flipH="1">
            <a:off x="5607463" y="2078326"/>
            <a:ext cx="1786243" cy="1130117"/>
          </a:xfrm>
          <a:prstGeom prst="straightConnector1">
            <a:avLst/>
          </a:prstGeom>
          <a:ln>
            <a:solidFill>
              <a:srgbClr val="3366FF"/>
            </a:solidFill>
            <a:tailEnd type="arrow"/>
          </a:ln>
        </p:spPr>
        <p:style>
          <a:lnRef idx="2">
            <a:schemeClr val="accent1"/>
          </a:lnRef>
          <a:fillRef idx="0">
            <a:schemeClr val="accent1"/>
          </a:fillRef>
          <a:effectRef idx="1">
            <a:schemeClr val="accent1"/>
          </a:effectRef>
          <a:fontRef idx="minor">
            <a:schemeClr val="tx1"/>
          </a:fontRef>
        </p:style>
      </p:cxnSp>
      <p:sp>
        <p:nvSpPr>
          <p:cNvPr id="23" name="Process 22"/>
          <p:cNvSpPr/>
          <p:nvPr/>
        </p:nvSpPr>
        <p:spPr>
          <a:xfrm>
            <a:off x="3545427" y="4442089"/>
            <a:ext cx="2062036" cy="892813"/>
          </a:xfrm>
          <a:prstGeom prst="flowChartProcess">
            <a:avLst/>
          </a:prstGeom>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rgbClr val="000000"/>
                </a:solidFill>
                <a:latin typeface="Times New Roman"/>
                <a:cs typeface="Times New Roman"/>
              </a:rPr>
              <a:t>Imitative Art</a:t>
            </a:r>
            <a:endParaRPr lang="en-US" b="1" dirty="0">
              <a:solidFill>
                <a:srgbClr val="000000"/>
              </a:solidFill>
              <a:latin typeface="Times New Roman"/>
              <a:cs typeface="Times New Roman"/>
            </a:endParaRPr>
          </a:p>
        </p:txBody>
      </p:sp>
      <p:cxnSp>
        <p:nvCxnSpPr>
          <p:cNvPr id="24" name="Straight Arrow Connector 23"/>
          <p:cNvCxnSpPr>
            <a:stCxn id="9" idx="2"/>
            <a:endCxn id="23" idx="0"/>
          </p:cNvCxnSpPr>
          <p:nvPr/>
        </p:nvCxnSpPr>
        <p:spPr>
          <a:xfrm>
            <a:off x="4576445" y="3761735"/>
            <a:ext cx="0" cy="680354"/>
          </a:xfrm>
          <a:prstGeom prst="straightConnector1">
            <a:avLst/>
          </a:prstGeom>
          <a:ln>
            <a:solidFill>
              <a:srgbClr val="3366FF"/>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23" idx="1"/>
            <a:endCxn id="30" idx="3"/>
          </p:cNvCxnSpPr>
          <p:nvPr/>
        </p:nvCxnSpPr>
        <p:spPr>
          <a:xfrm flipH="1" flipV="1">
            <a:off x="2102529" y="4276724"/>
            <a:ext cx="1442898" cy="611772"/>
          </a:xfrm>
          <a:prstGeom prst="straightConnector1">
            <a:avLst/>
          </a:prstGeom>
          <a:ln>
            <a:solidFill>
              <a:srgbClr val="3366FF"/>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23" idx="3"/>
            <a:endCxn id="31" idx="1"/>
          </p:cNvCxnSpPr>
          <p:nvPr/>
        </p:nvCxnSpPr>
        <p:spPr>
          <a:xfrm flipV="1">
            <a:off x="5607463" y="4322165"/>
            <a:ext cx="1461441" cy="566331"/>
          </a:xfrm>
          <a:prstGeom prst="straightConnector1">
            <a:avLst/>
          </a:prstGeom>
          <a:ln>
            <a:solidFill>
              <a:srgbClr val="3366FF"/>
            </a:solidFill>
            <a:tailEnd type="arrow"/>
          </a:ln>
        </p:spPr>
        <p:style>
          <a:lnRef idx="2">
            <a:schemeClr val="accent1"/>
          </a:lnRef>
          <a:fillRef idx="0">
            <a:schemeClr val="accent1"/>
          </a:fillRef>
          <a:effectRef idx="1">
            <a:schemeClr val="accent1"/>
          </a:effectRef>
          <a:fontRef idx="minor">
            <a:schemeClr val="tx1"/>
          </a:fontRef>
        </p:style>
      </p:cxnSp>
      <p:sp>
        <p:nvSpPr>
          <p:cNvPr id="30" name="Terminator 29"/>
          <p:cNvSpPr/>
          <p:nvPr/>
        </p:nvSpPr>
        <p:spPr>
          <a:xfrm>
            <a:off x="761092" y="4010767"/>
            <a:ext cx="1341437" cy="531914"/>
          </a:xfrm>
          <a:prstGeom prst="flowChartTerminator">
            <a:avLst/>
          </a:prstGeom>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rgbClr val="000000"/>
                </a:solidFill>
                <a:latin typeface="Times New Roman"/>
                <a:cs typeface="Times New Roman"/>
              </a:rPr>
              <a:t>Paper</a:t>
            </a:r>
            <a:endParaRPr lang="en-US" b="1" dirty="0">
              <a:solidFill>
                <a:srgbClr val="000000"/>
              </a:solidFill>
              <a:latin typeface="Times New Roman"/>
              <a:cs typeface="Times New Roman"/>
            </a:endParaRPr>
          </a:p>
        </p:txBody>
      </p:sp>
      <p:sp>
        <p:nvSpPr>
          <p:cNvPr id="31" name="Terminator 30"/>
          <p:cNvSpPr/>
          <p:nvPr/>
        </p:nvSpPr>
        <p:spPr>
          <a:xfrm>
            <a:off x="7068904" y="4042201"/>
            <a:ext cx="1412141" cy="559927"/>
          </a:xfrm>
          <a:prstGeom prst="flowChartTerminator">
            <a:avLst/>
          </a:prstGeom>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rgbClr val="000000"/>
                </a:solidFill>
                <a:latin typeface="Times New Roman"/>
                <a:cs typeface="Times New Roman"/>
              </a:rPr>
              <a:t>World</a:t>
            </a:r>
            <a:endParaRPr lang="en-US" b="1" dirty="0">
              <a:solidFill>
                <a:srgbClr val="000000"/>
              </a:solidFill>
              <a:latin typeface="Times New Roman"/>
              <a:cs typeface="Times New Roman"/>
            </a:endParaRPr>
          </a:p>
        </p:txBody>
      </p:sp>
      <p:cxnSp>
        <p:nvCxnSpPr>
          <p:cNvPr id="34" name="Straight Arrow Connector 33"/>
          <p:cNvCxnSpPr>
            <a:stCxn id="30" idx="2"/>
            <a:endCxn id="39" idx="0"/>
          </p:cNvCxnSpPr>
          <p:nvPr/>
        </p:nvCxnSpPr>
        <p:spPr>
          <a:xfrm>
            <a:off x="1431811" y="4542681"/>
            <a:ext cx="18079" cy="950393"/>
          </a:xfrm>
          <a:prstGeom prst="straightConnector1">
            <a:avLst/>
          </a:prstGeom>
          <a:ln>
            <a:solidFill>
              <a:srgbClr val="3366FF"/>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31" idx="2"/>
            <a:endCxn id="40" idx="0"/>
          </p:cNvCxnSpPr>
          <p:nvPr/>
        </p:nvCxnSpPr>
        <p:spPr>
          <a:xfrm>
            <a:off x="7774975" y="4602128"/>
            <a:ext cx="0" cy="905056"/>
          </a:xfrm>
          <a:prstGeom prst="straightConnector1">
            <a:avLst/>
          </a:prstGeom>
          <a:ln>
            <a:solidFill>
              <a:srgbClr val="3366FF"/>
            </a:solidFill>
            <a:tailEnd type="arrow"/>
          </a:ln>
        </p:spPr>
        <p:style>
          <a:lnRef idx="2">
            <a:schemeClr val="accent1"/>
          </a:lnRef>
          <a:fillRef idx="0">
            <a:schemeClr val="accent1"/>
          </a:fillRef>
          <a:effectRef idx="1">
            <a:schemeClr val="accent1"/>
          </a:effectRef>
          <a:fontRef idx="minor">
            <a:schemeClr val="tx1"/>
          </a:fontRef>
        </p:style>
      </p:cxnSp>
      <p:sp>
        <p:nvSpPr>
          <p:cNvPr id="39" name="Connector 38"/>
          <p:cNvSpPr/>
          <p:nvPr/>
        </p:nvSpPr>
        <p:spPr>
          <a:xfrm>
            <a:off x="797250" y="5493074"/>
            <a:ext cx="1305279" cy="914459"/>
          </a:xfrm>
          <a:prstGeom prst="flowChartConnector">
            <a:avLst/>
          </a:prstGeom>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rgbClr val="000000"/>
                </a:solidFill>
                <a:latin typeface="Times New Roman"/>
                <a:cs typeface="Times New Roman"/>
              </a:rPr>
              <a:t>Tools</a:t>
            </a:r>
            <a:endParaRPr lang="en-US" b="1" dirty="0">
              <a:solidFill>
                <a:srgbClr val="000000"/>
              </a:solidFill>
              <a:latin typeface="Times New Roman"/>
              <a:cs typeface="Times New Roman"/>
            </a:endParaRPr>
          </a:p>
        </p:txBody>
      </p:sp>
      <p:sp>
        <p:nvSpPr>
          <p:cNvPr id="40" name="Connector 39"/>
          <p:cNvSpPr/>
          <p:nvPr/>
        </p:nvSpPr>
        <p:spPr>
          <a:xfrm>
            <a:off x="7122335" y="5507184"/>
            <a:ext cx="1305279" cy="914459"/>
          </a:xfrm>
          <a:prstGeom prst="flowChartConnector">
            <a:avLst/>
          </a:prstGeom>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rgbClr val="000000"/>
                </a:solidFill>
                <a:latin typeface="Times New Roman"/>
                <a:cs typeface="Times New Roman"/>
              </a:rPr>
              <a:t>Tools</a:t>
            </a:r>
            <a:endParaRPr lang="en-US" b="1" dirty="0">
              <a:solidFill>
                <a:srgbClr val="000000"/>
              </a:solidFill>
              <a:latin typeface="Times New Roman"/>
              <a:cs typeface="Times New Roman"/>
            </a:endParaRPr>
          </a:p>
        </p:txBody>
      </p:sp>
      <p:sp>
        <p:nvSpPr>
          <p:cNvPr id="41" name="Process 40"/>
          <p:cNvSpPr/>
          <p:nvPr/>
        </p:nvSpPr>
        <p:spPr>
          <a:xfrm>
            <a:off x="3482560" y="5700890"/>
            <a:ext cx="2187770" cy="527047"/>
          </a:xfrm>
          <a:prstGeom prst="flowChartProcess">
            <a:avLst/>
          </a:prstGeom>
          <a:ln>
            <a:solidFill>
              <a:srgbClr val="33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rgbClr val="000000"/>
                </a:solidFill>
                <a:latin typeface="Times New Roman"/>
                <a:cs typeface="Times New Roman"/>
              </a:rPr>
              <a:t>Better Output</a:t>
            </a:r>
            <a:endParaRPr lang="en-US" b="1" dirty="0">
              <a:solidFill>
                <a:srgbClr val="000000"/>
              </a:solidFill>
              <a:latin typeface="Times New Roman"/>
              <a:cs typeface="Times New Roman"/>
            </a:endParaRPr>
          </a:p>
        </p:txBody>
      </p:sp>
      <p:cxnSp>
        <p:nvCxnSpPr>
          <p:cNvPr id="43" name="Straight Arrow Connector 42"/>
          <p:cNvCxnSpPr>
            <a:stCxn id="40" idx="2"/>
            <a:endCxn id="41" idx="3"/>
          </p:cNvCxnSpPr>
          <p:nvPr/>
        </p:nvCxnSpPr>
        <p:spPr>
          <a:xfrm flipH="1">
            <a:off x="5670330" y="5964414"/>
            <a:ext cx="1452005" cy="0"/>
          </a:xfrm>
          <a:prstGeom prst="straightConnector1">
            <a:avLst/>
          </a:prstGeom>
          <a:ln>
            <a:solidFill>
              <a:srgbClr val="3366FF"/>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a:stCxn id="39" idx="6"/>
            <a:endCxn id="41" idx="1"/>
          </p:cNvCxnSpPr>
          <p:nvPr/>
        </p:nvCxnSpPr>
        <p:spPr>
          <a:xfrm>
            <a:off x="2102529" y="5950304"/>
            <a:ext cx="1380031" cy="14110"/>
          </a:xfrm>
          <a:prstGeom prst="straightConnector1">
            <a:avLst/>
          </a:prstGeom>
          <a:ln>
            <a:solidFill>
              <a:srgbClr val="3366FF"/>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2507075"/>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4316" y="1618513"/>
            <a:ext cx="7581901" cy="4652678"/>
          </a:xfrm>
        </p:spPr>
        <p:txBody>
          <a:bodyPr>
            <a:normAutofit fontScale="40000" lnSpcReduction="20000"/>
          </a:bodyPr>
          <a:lstStyle/>
          <a:p>
            <a:r>
              <a:rPr lang="en-US" sz="6000" dirty="0" smtClean="0">
                <a:latin typeface="Times New Roman"/>
                <a:cs typeface="Times New Roman"/>
              </a:rPr>
              <a:t>Using my own perspective, I can explain it as follows:</a:t>
            </a:r>
          </a:p>
          <a:p>
            <a:pPr marL="0" indent="0">
              <a:buNone/>
            </a:pPr>
            <a:r>
              <a:rPr lang="en-US" sz="6000" dirty="0" smtClean="0">
                <a:latin typeface="Times New Roman"/>
                <a:cs typeface="Times New Roman"/>
              </a:rPr>
              <a:t>Imitative Artist</a:t>
            </a:r>
          </a:p>
          <a:p>
            <a:pPr marL="0" indent="0">
              <a:buNone/>
            </a:pPr>
            <a:r>
              <a:rPr lang="en-US" sz="6000" dirty="0" smtClean="0">
                <a:latin typeface="Times New Roman"/>
                <a:cs typeface="Times New Roman"/>
              </a:rPr>
              <a:t>  </a:t>
            </a:r>
          </a:p>
          <a:p>
            <a:pPr marL="0" indent="0">
              <a:buNone/>
            </a:pPr>
            <a:r>
              <a:rPr lang="en-US" sz="6000" dirty="0" smtClean="0">
                <a:latin typeface="Times New Roman"/>
                <a:cs typeface="Times New Roman"/>
              </a:rPr>
              <a:t>Paper </a:t>
            </a:r>
          </a:p>
          <a:p>
            <a:pPr marL="0" indent="0">
              <a:buNone/>
            </a:pPr>
            <a:endParaRPr lang="en-US" sz="6000" dirty="0" smtClean="0">
              <a:latin typeface="Times New Roman"/>
              <a:cs typeface="Times New Roman"/>
            </a:endParaRPr>
          </a:p>
          <a:p>
            <a:pPr marL="0" indent="0">
              <a:buNone/>
            </a:pPr>
            <a:endParaRPr lang="en-US" sz="6000" dirty="0">
              <a:latin typeface="Times New Roman"/>
              <a:cs typeface="Times New Roman"/>
            </a:endParaRPr>
          </a:p>
          <a:p>
            <a:pPr marL="0" indent="0">
              <a:buNone/>
            </a:pPr>
            <a:endParaRPr lang="en-US" sz="6000" dirty="0" smtClean="0">
              <a:latin typeface="Times New Roman"/>
              <a:cs typeface="Times New Roman"/>
            </a:endParaRPr>
          </a:p>
          <a:p>
            <a:pPr marL="0" indent="0">
              <a:buNone/>
            </a:pPr>
            <a:r>
              <a:rPr lang="en-US" sz="6000" dirty="0" smtClean="0">
                <a:latin typeface="Times New Roman"/>
                <a:cs typeface="Times New Roman"/>
              </a:rPr>
              <a:t>		          Tools</a:t>
            </a:r>
          </a:p>
          <a:p>
            <a:pPr marL="0" indent="0">
              <a:buNone/>
            </a:pPr>
            <a:endParaRPr lang="en-US" dirty="0"/>
          </a:p>
        </p:txBody>
      </p:sp>
      <p:sp>
        <p:nvSpPr>
          <p:cNvPr id="4" name="Rectangle 3"/>
          <p:cNvSpPr/>
          <p:nvPr/>
        </p:nvSpPr>
        <p:spPr>
          <a:xfrm>
            <a:off x="712174" y="427335"/>
            <a:ext cx="7622587" cy="923330"/>
          </a:xfrm>
          <a:prstGeom prst="rect">
            <a:avLst/>
          </a:prstGeom>
        </p:spPr>
        <p:style>
          <a:lnRef idx="1">
            <a:schemeClr val="accent1"/>
          </a:lnRef>
          <a:fillRef idx="3">
            <a:schemeClr val="accent1"/>
          </a:fillRef>
          <a:effectRef idx="2">
            <a:schemeClr val="accent1"/>
          </a:effectRef>
          <a:fontRef idx="minor">
            <a:schemeClr val="lt1"/>
          </a:fontRef>
        </p:style>
        <p:txBody>
          <a:bodyPr wrap="none" lIns="91440" tIns="45720" rIns="91440" bIns="45720">
            <a:spAutoFit/>
          </a:bodyPr>
          <a:lstStyle/>
          <a:p>
            <a:pPr algn="ctr"/>
            <a:r>
              <a:rPr lang="en-US" sz="5400" b="1"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Why Augmented Reality?</a:t>
            </a:r>
            <a:endParaRPr lang="en-US" sz="5400" b="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pic>
        <p:nvPicPr>
          <p:cNvPr id="5" name="Picture 4" descr="artist.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4008" y="2061974"/>
            <a:ext cx="1825023" cy="1518318"/>
          </a:xfrm>
          <a:prstGeom prst="rect">
            <a:avLst/>
          </a:prstGeom>
        </p:spPr>
      </p:pic>
      <p:cxnSp>
        <p:nvCxnSpPr>
          <p:cNvPr id="7" name="Straight Arrow Connector 6"/>
          <p:cNvCxnSpPr>
            <a:endCxn id="5" idx="1"/>
          </p:cNvCxnSpPr>
          <p:nvPr/>
        </p:nvCxnSpPr>
        <p:spPr>
          <a:xfrm>
            <a:off x="2829013" y="2338919"/>
            <a:ext cx="3554995" cy="4822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8" name="Picture 7" descr="images.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3989" y="4504312"/>
            <a:ext cx="2655146" cy="1766879"/>
          </a:xfrm>
          <a:prstGeom prst="rect">
            <a:avLst/>
          </a:prstGeom>
        </p:spPr>
      </p:pic>
      <p:cxnSp>
        <p:nvCxnSpPr>
          <p:cNvPr id="10" name="Straight Arrow Connector 9"/>
          <p:cNvCxnSpPr>
            <a:stCxn id="5" idx="2"/>
            <a:endCxn id="8" idx="3"/>
          </p:cNvCxnSpPr>
          <p:nvPr/>
        </p:nvCxnSpPr>
        <p:spPr>
          <a:xfrm flipH="1">
            <a:off x="6779135" y="3580292"/>
            <a:ext cx="517385" cy="180746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11" name="Picture 10" descr="Paper.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5140" y="3196997"/>
            <a:ext cx="2224895" cy="1848040"/>
          </a:xfrm>
          <a:prstGeom prst="rect">
            <a:avLst/>
          </a:prstGeom>
        </p:spPr>
      </p:pic>
      <p:cxnSp>
        <p:nvCxnSpPr>
          <p:cNvPr id="14" name="Straight Arrow Connector 13"/>
          <p:cNvCxnSpPr>
            <a:stCxn id="5" idx="2"/>
            <a:endCxn id="11" idx="3"/>
          </p:cNvCxnSpPr>
          <p:nvPr/>
        </p:nvCxnSpPr>
        <p:spPr>
          <a:xfrm flipH="1">
            <a:off x="3860035" y="3580292"/>
            <a:ext cx="3436485" cy="54072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6538987"/>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rtist.jpg"/>
          <p:cNvPicPr>
            <a:picLocks noGrp="1" noChangeAspect="1"/>
          </p:cNvPicPr>
          <p:nvPr>
            <p:ph idx="1"/>
          </p:nvPr>
        </p:nvPicPr>
        <p:blipFill>
          <a:blip r:embed="rId2">
            <a:extLst>
              <a:ext uri="{28A0092B-C50C-407E-A947-70E740481C1C}">
                <a14:useLocalDpi xmlns:a14="http://schemas.microsoft.com/office/drawing/2010/main" val="0"/>
              </a:ext>
            </a:extLst>
          </a:blip>
          <a:srcRect t="6032" b="6032"/>
          <a:stretch>
            <a:fillRect/>
          </a:stretch>
        </p:blipFill>
        <p:spPr>
          <a:xfrm>
            <a:off x="779463" y="562951"/>
            <a:ext cx="2063052" cy="1509276"/>
          </a:xfrm>
          <a:prstGeom prst="rect">
            <a:avLst/>
          </a:prstGeom>
        </p:spPr>
      </p:pic>
      <p:sp>
        <p:nvSpPr>
          <p:cNvPr id="5" name="TextBox 4"/>
          <p:cNvSpPr txBox="1"/>
          <p:nvPr/>
        </p:nvSpPr>
        <p:spPr>
          <a:xfrm>
            <a:off x="691450" y="2021926"/>
            <a:ext cx="8172791" cy="3046988"/>
          </a:xfrm>
          <a:prstGeom prst="rect">
            <a:avLst/>
          </a:prstGeom>
          <a:noFill/>
          <a:ln>
            <a:noFill/>
          </a:ln>
        </p:spPr>
        <p:txBody>
          <a:bodyPr wrap="square" rtlCol="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r>
              <a:rPr lang="en-US" sz="2400" b="1" dirty="0" smtClean="0">
                <a:ln/>
                <a:solidFill>
                  <a:schemeClr val="accent3"/>
                </a:solidFill>
                <a:latin typeface="Times New Roman"/>
                <a:cs typeface="Times New Roman"/>
              </a:rPr>
              <a:t>The Artist sees the world</a:t>
            </a:r>
          </a:p>
          <a:p>
            <a:r>
              <a:rPr lang="en-US" sz="2400" b="1" dirty="0" smtClean="0">
                <a:ln/>
                <a:solidFill>
                  <a:schemeClr val="accent3"/>
                </a:solidFill>
                <a:latin typeface="Times New Roman"/>
                <a:cs typeface="Times New Roman"/>
              </a:rPr>
              <a:t>Paints it</a:t>
            </a:r>
          </a:p>
          <a:p>
            <a:r>
              <a:rPr lang="en-US" sz="2400" b="1" dirty="0" smtClean="0">
                <a:ln/>
                <a:solidFill>
                  <a:schemeClr val="accent3"/>
                </a:solidFill>
                <a:latin typeface="Times New Roman"/>
                <a:cs typeface="Times New Roman"/>
              </a:rPr>
              <a:t>Fix it</a:t>
            </a:r>
          </a:p>
          <a:p>
            <a:endParaRPr lang="en-US" sz="2400" b="1" dirty="0">
              <a:ln/>
              <a:solidFill>
                <a:schemeClr val="accent3"/>
              </a:solidFill>
              <a:latin typeface="Times New Roman"/>
              <a:cs typeface="Times New Roman"/>
            </a:endParaRPr>
          </a:p>
          <a:p>
            <a:r>
              <a:rPr lang="en-US" sz="2400" b="1" dirty="0" smtClean="0">
                <a:ln/>
                <a:solidFill>
                  <a:schemeClr val="accent3"/>
                </a:solidFill>
                <a:latin typeface="Times New Roman"/>
                <a:cs typeface="Times New Roman"/>
              </a:rPr>
              <a:t>It does not actually mean is true, but it makes the real world better.</a:t>
            </a:r>
          </a:p>
          <a:p>
            <a:endParaRPr lang="en-US" sz="2400" b="1" dirty="0" smtClean="0">
              <a:ln/>
              <a:solidFill>
                <a:schemeClr val="accent3"/>
              </a:solidFill>
              <a:latin typeface="Times New Roman"/>
              <a:cs typeface="Times New Roman"/>
            </a:endParaRPr>
          </a:p>
          <a:p>
            <a:endParaRPr lang="en-US" sz="2400" b="1" dirty="0">
              <a:ln/>
              <a:solidFill>
                <a:schemeClr val="accent3"/>
              </a:solidFill>
              <a:latin typeface="Times New Roman"/>
              <a:cs typeface="Times New Roman"/>
            </a:endParaRPr>
          </a:p>
        </p:txBody>
      </p:sp>
      <p:pic>
        <p:nvPicPr>
          <p:cNvPr id="6" name="Picture 5" descr="fix.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1635" y="801721"/>
            <a:ext cx="3945991" cy="2842347"/>
          </a:xfrm>
          <a:prstGeom prst="rect">
            <a:avLst/>
          </a:prstGeom>
        </p:spPr>
      </p:pic>
      <p:cxnSp>
        <p:nvCxnSpPr>
          <p:cNvPr id="8" name="Straight Arrow Connector 7"/>
          <p:cNvCxnSpPr/>
          <p:nvPr/>
        </p:nvCxnSpPr>
        <p:spPr>
          <a:xfrm>
            <a:off x="3998339" y="2461820"/>
            <a:ext cx="2049463" cy="42754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1848289" y="2801341"/>
            <a:ext cx="6035228" cy="27664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1471085" y="1760477"/>
            <a:ext cx="5808908" cy="1292359"/>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0804306"/>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9462" y="322855"/>
            <a:ext cx="7581901" cy="5940551"/>
          </a:xfrm>
        </p:spPr>
        <p:txBody>
          <a:bodyPr>
            <a:normAutofit fontScale="85000" lnSpcReduction="20000"/>
            <a:scene3d>
              <a:camera prst="orthographicFront"/>
              <a:lightRig rig="balanced" dir="t">
                <a:rot lat="0" lon="0" rev="2100000"/>
              </a:lightRig>
            </a:scene3d>
            <a:sp3d extrusionH="57150" prstMaterial="metal">
              <a:bevelT w="38100" h="25400"/>
              <a:contourClr>
                <a:schemeClr val="bg2"/>
              </a:contourClr>
            </a:sp3d>
          </a:bodyPr>
          <a:lstStyle/>
          <a:p>
            <a:endParaRPr lang="en-US" sz="3400" dirty="0">
              <a:ln w="50800"/>
              <a:solidFill>
                <a:schemeClr val="bg1">
                  <a:shade val="50000"/>
                </a:schemeClr>
              </a:solidFill>
              <a:effectLst/>
              <a:latin typeface="Times New Roman"/>
              <a:cs typeface="Times New Roman"/>
            </a:endParaRPr>
          </a:p>
          <a:p>
            <a:pPr marL="0" indent="0" algn="just">
              <a:buNone/>
            </a:pPr>
            <a:r>
              <a:rPr lang="en-US" sz="3400" b="0" dirty="0">
                <a:ln w="19050">
                  <a:solidFill>
                    <a:schemeClr val="tx2">
                      <a:tint val="1000"/>
                    </a:schemeClr>
                  </a:solidFill>
                  <a:prstDash val="solid"/>
                </a:ln>
                <a:solidFill>
                  <a:srgbClr val="F2D908"/>
                </a:solidFill>
                <a:effectLst>
                  <a:outerShdw blurRad="50000" dist="50800" dir="7500000" algn="tl">
                    <a:srgbClr val="000000">
                      <a:shade val="5000"/>
                      <a:alpha val="35000"/>
                    </a:srgbClr>
                  </a:outerShdw>
                </a:effectLst>
                <a:latin typeface="Times New Roman"/>
                <a:cs typeface="Times New Roman"/>
              </a:rPr>
              <a:t>Why?</a:t>
            </a:r>
          </a:p>
          <a:p>
            <a:pPr marL="0" indent="0" algn="just">
              <a:buNone/>
            </a:pPr>
            <a:r>
              <a:rPr lang="en-US" sz="3400" b="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Times New Roman"/>
                <a:cs typeface="Times New Roman"/>
              </a:rPr>
              <a:t>In art, even though you know it is not true, once you see it, you have a better perception of what you really want, what it is, and how it should really be</a:t>
            </a:r>
            <a:r>
              <a:rPr lang="en-US" sz="3400" b="0" dirty="0" smtClean="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Times New Roman"/>
                <a:cs typeface="Times New Roman"/>
              </a:rPr>
              <a:t>.</a:t>
            </a:r>
            <a:endParaRPr lang="en-US" sz="3400" b="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Times New Roman"/>
              <a:cs typeface="Times New Roman"/>
            </a:endParaRPr>
          </a:p>
          <a:p>
            <a:pPr marL="0" indent="0" algn="just">
              <a:buNone/>
            </a:pPr>
            <a:r>
              <a:rPr lang="en-US" sz="3400" b="0" dirty="0">
                <a:ln w="19050">
                  <a:solidFill>
                    <a:schemeClr val="tx2">
                      <a:tint val="1000"/>
                    </a:schemeClr>
                  </a:solidFill>
                  <a:prstDash val="solid"/>
                </a:ln>
                <a:solidFill>
                  <a:srgbClr val="F2D908"/>
                </a:solidFill>
                <a:effectLst>
                  <a:outerShdw blurRad="50000" dist="50800" dir="7500000" algn="tl">
                    <a:srgbClr val="000000">
                      <a:shade val="5000"/>
                      <a:alpha val="35000"/>
                    </a:srgbClr>
                  </a:outerShdw>
                </a:effectLst>
                <a:latin typeface="Times New Roman"/>
                <a:cs typeface="Times New Roman"/>
              </a:rPr>
              <a:t>Does that apply for Augmented Reality?</a:t>
            </a:r>
          </a:p>
          <a:p>
            <a:pPr marL="0" indent="0" algn="just">
              <a:buNone/>
            </a:pPr>
            <a:r>
              <a:rPr lang="en-US" sz="3400" b="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latin typeface="Times New Roman"/>
                <a:cs typeface="Times New Roman"/>
              </a:rPr>
              <a:t>Let’s see...</a:t>
            </a:r>
          </a:p>
          <a:p>
            <a:pPr marL="0" indent="0">
              <a:buNone/>
            </a:pPr>
            <a:r>
              <a:rPr lang="en-US" sz="3400" dirty="0">
                <a:ln w="50800"/>
                <a:solidFill>
                  <a:schemeClr val="bg1">
                    <a:shade val="50000"/>
                  </a:schemeClr>
                </a:solidFill>
                <a:effectLst/>
                <a:latin typeface="Times New Roman"/>
                <a:cs typeface="Times New Roman"/>
                <a:hlinkClick r:id="rId2"/>
              </a:rPr>
              <a:t>http://www.youtube.com/watch?v=e4OKbfB-ZAU</a:t>
            </a:r>
          </a:p>
          <a:p>
            <a:pPr marL="0" indent="0">
              <a:buNone/>
            </a:pPr>
            <a:r>
              <a:rPr lang="en-US" sz="3400" dirty="0">
                <a:ln w="50800"/>
                <a:solidFill>
                  <a:schemeClr val="bg1">
                    <a:shade val="50000"/>
                  </a:schemeClr>
                </a:solidFill>
                <a:effectLst/>
                <a:latin typeface="Times New Roman"/>
                <a:cs typeface="Times New Roman"/>
                <a:hlinkClick r:id="rId2"/>
              </a:rPr>
              <a:t>http://www.youtube.com/watch?v=s4ZkOmbavgs#t=11</a:t>
            </a:r>
            <a:endParaRPr lang="en-US" sz="3400" dirty="0">
              <a:ln w="50800"/>
              <a:solidFill>
                <a:schemeClr val="bg1">
                  <a:shade val="50000"/>
                </a:schemeClr>
              </a:solidFill>
              <a:effectLst/>
              <a:latin typeface="Times New Roman"/>
              <a:cs typeface="Times New Roman"/>
            </a:endParaRPr>
          </a:p>
          <a:p>
            <a:pPr marL="0" indent="0">
              <a:buNone/>
            </a:pPr>
            <a:endParaRPr lang="en-US" dirty="0">
              <a:ln w="50800"/>
              <a:solidFill>
                <a:schemeClr val="bg1">
                  <a:shade val="50000"/>
                </a:schemeClr>
              </a:solidFill>
              <a:effectLst/>
            </a:endParaRPr>
          </a:p>
        </p:txBody>
      </p:sp>
    </p:spTree>
    <p:extLst>
      <p:ext uri="{BB962C8B-B14F-4D97-AF65-F5344CB8AC3E}">
        <p14:creationId xmlns:p14="http://schemas.microsoft.com/office/powerpoint/2010/main" val="2634897975"/>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How Could We Change what we see?</a:t>
            </a:r>
            <a:endParaRPr lang="en-US" dirty="0">
              <a:solidFill>
                <a:schemeClr val="accent1"/>
              </a:solidFill>
            </a:endParaRPr>
          </a:p>
        </p:txBody>
      </p:sp>
      <p:sp>
        <p:nvSpPr>
          <p:cNvPr id="3" name="Content Placeholder 2"/>
          <p:cNvSpPr>
            <a:spLocks noGrp="1"/>
          </p:cNvSpPr>
          <p:nvPr>
            <p:ph idx="1"/>
          </p:nvPr>
        </p:nvSpPr>
        <p:spPr>
          <a:xfrm>
            <a:off x="427495" y="1882587"/>
            <a:ext cx="8185279" cy="4341955"/>
          </a:xfrm>
        </p:spPr>
        <p:txBody>
          <a:bodyPr>
            <a:normAutofit fontScale="92500" lnSpcReduction="20000"/>
            <a:scene3d>
              <a:camera prst="orthographicFront"/>
              <a:lightRig rig="balanced" dir="t">
                <a:rot lat="0" lon="0" rev="2100000"/>
              </a:lightRig>
            </a:scene3d>
            <a:sp3d extrusionH="57150" prstMaterial="metal">
              <a:bevelT w="38100" h="25400"/>
              <a:contourClr>
                <a:schemeClr val="bg2"/>
              </a:contourClr>
            </a:sp3d>
          </a:bodyPr>
          <a:lstStyle/>
          <a:p>
            <a:pPr marL="0" indent="0" algn="just">
              <a:buNone/>
            </a:pPr>
            <a:r>
              <a:rPr lang="en-US" b="0" dirty="0" smtClean="0">
                <a:ln w="50800"/>
                <a:effectLst/>
                <a:latin typeface="Times New Roman"/>
                <a:cs typeface="Times New Roman"/>
              </a:rPr>
              <a:t>Marker </a:t>
            </a:r>
            <a:r>
              <a:rPr lang="en-US" b="0" dirty="0" err="1" smtClean="0">
                <a:ln w="50800"/>
                <a:effectLst/>
                <a:latin typeface="Times New Roman"/>
                <a:cs typeface="Times New Roman"/>
              </a:rPr>
              <a:t>vs</a:t>
            </a:r>
            <a:r>
              <a:rPr lang="en-US" b="0" dirty="0" smtClean="0">
                <a:ln w="50800"/>
                <a:effectLst/>
                <a:latin typeface="Times New Roman"/>
                <a:cs typeface="Times New Roman"/>
              </a:rPr>
              <a:t> </a:t>
            </a:r>
            <a:r>
              <a:rPr lang="en-US" b="0" dirty="0" err="1" smtClean="0">
                <a:ln w="50800"/>
                <a:effectLst/>
                <a:latin typeface="Times New Roman"/>
                <a:cs typeface="Times New Roman"/>
              </a:rPr>
              <a:t>Markerless</a:t>
            </a:r>
            <a:r>
              <a:rPr lang="en-US" b="0" dirty="0" smtClean="0">
                <a:ln w="50800"/>
                <a:effectLst/>
                <a:latin typeface="Times New Roman"/>
                <a:cs typeface="Times New Roman"/>
              </a:rPr>
              <a:t> Augmented Reality</a:t>
            </a:r>
            <a:endParaRPr lang="en-US" b="0" dirty="0">
              <a:ln w="50800"/>
              <a:effectLst/>
              <a:latin typeface="Times New Roman"/>
              <a:cs typeface="Times New Roman"/>
            </a:endParaRPr>
          </a:p>
          <a:p>
            <a:pPr marL="0" indent="0" algn="just">
              <a:buNone/>
            </a:pPr>
            <a:r>
              <a:rPr lang="en-US" b="0" dirty="0">
                <a:ln w="50800"/>
                <a:effectLst/>
                <a:latin typeface="Times New Roman"/>
                <a:cs typeface="Times New Roman"/>
              </a:rPr>
              <a:t>Currently, </a:t>
            </a:r>
            <a:r>
              <a:rPr lang="en-US" b="0" dirty="0">
                <a:ln w="50800"/>
                <a:effectLst>
                  <a:glow rad="228600">
                    <a:schemeClr val="accent1">
                      <a:satMod val="175000"/>
                      <a:alpha val="40000"/>
                    </a:schemeClr>
                  </a:glow>
                </a:effectLst>
                <a:latin typeface="Times New Roman"/>
                <a:cs typeface="Times New Roman"/>
              </a:rPr>
              <a:t>many people associate augmented reality with black and white squares </a:t>
            </a:r>
            <a:r>
              <a:rPr lang="en-US" b="0" dirty="0">
                <a:ln w="50800"/>
                <a:effectLst/>
                <a:latin typeface="Times New Roman"/>
                <a:cs typeface="Times New Roman"/>
              </a:rPr>
              <a:t>that trigger augmented reality elements. These black and white squares are called markers. </a:t>
            </a:r>
            <a:endParaRPr lang="en-US" b="0" dirty="0" smtClean="0">
              <a:ln w="50800"/>
              <a:effectLst/>
              <a:latin typeface="Times New Roman"/>
              <a:cs typeface="Times New Roman"/>
            </a:endParaRPr>
          </a:p>
          <a:p>
            <a:pPr marL="0" indent="0" algn="just">
              <a:buNone/>
            </a:pPr>
            <a:r>
              <a:rPr lang="en-US" b="0" dirty="0" err="1" smtClean="0">
                <a:ln w="50800"/>
                <a:effectLst>
                  <a:glow rad="228600">
                    <a:schemeClr val="accent1">
                      <a:satMod val="175000"/>
                      <a:alpha val="40000"/>
                    </a:schemeClr>
                  </a:glow>
                </a:effectLst>
                <a:latin typeface="Times New Roman"/>
                <a:cs typeface="Times New Roman"/>
              </a:rPr>
              <a:t>Markerless</a:t>
            </a:r>
            <a:r>
              <a:rPr lang="en-US" b="0" dirty="0" smtClean="0">
                <a:ln w="50800"/>
                <a:effectLst/>
                <a:latin typeface="Times New Roman"/>
                <a:cs typeface="Times New Roman"/>
              </a:rPr>
              <a:t> technology requires </a:t>
            </a:r>
            <a:r>
              <a:rPr lang="en-US" b="0" dirty="0" smtClean="0">
                <a:ln w="50800"/>
                <a:effectLst>
                  <a:glow rad="228600">
                    <a:schemeClr val="accent1">
                      <a:satMod val="175000"/>
                      <a:alpha val="40000"/>
                    </a:schemeClr>
                  </a:glow>
                </a:effectLst>
                <a:latin typeface="Times New Roman"/>
                <a:cs typeface="Times New Roman"/>
              </a:rPr>
              <a:t>no mar</a:t>
            </a:r>
            <a:r>
              <a:rPr lang="en-US" b="0" dirty="0" smtClean="0">
                <a:ln w="50800"/>
                <a:effectLst/>
                <a:latin typeface="Times New Roman"/>
                <a:cs typeface="Times New Roman"/>
              </a:rPr>
              <a:t>ker to know the position of the object or person. Smartphone browsers that layer information over live locations are often considered in the </a:t>
            </a:r>
            <a:r>
              <a:rPr lang="en-US" b="0" dirty="0" err="1" smtClean="0">
                <a:ln w="50800"/>
                <a:effectLst/>
                <a:latin typeface="Times New Roman"/>
                <a:cs typeface="Times New Roman"/>
              </a:rPr>
              <a:t>markerless</a:t>
            </a:r>
            <a:r>
              <a:rPr lang="en-US" b="0" dirty="0" smtClean="0">
                <a:ln w="50800"/>
                <a:effectLst/>
                <a:latin typeface="Times New Roman"/>
                <a:cs typeface="Times New Roman"/>
              </a:rPr>
              <a:t> category, although they still use embedded "marked" information through </a:t>
            </a:r>
            <a:r>
              <a:rPr lang="en-US" b="0" dirty="0" err="1" smtClean="0">
                <a:ln w="50800"/>
                <a:effectLst>
                  <a:glow rad="228600">
                    <a:schemeClr val="accent1">
                      <a:satMod val="175000"/>
                      <a:alpha val="40000"/>
                    </a:schemeClr>
                  </a:glow>
                </a:effectLst>
                <a:latin typeface="Times New Roman"/>
                <a:cs typeface="Times New Roman"/>
              </a:rPr>
              <a:t>geolocation</a:t>
            </a:r>
            <a:r>
              <a:rPr lang="en-US" b="0" dirty="0" smtClean="0">
                <a:ln w="50800"/>
                <a:effectLst/>
                <a:latin typeface="Times New Roman"/>
                <a:cs typeface="Times New Roman"/>
              </a:rPr>
              <a:t> and </a:t>
            </a:r>
            <a:r>
              <a:rPr lang="en-US" b="0" dirty="0" err="1" smtClean="0">
                <a:ln w="50800"/>
                <a:effectLst/>
                <a:latin typeface="Times New Roman"/>
                <a:cs typeface="Times New Roman"/>
              </a:rPr>
              <a:t>geotagging</a:t>
            </a:r>
            <a:r>
              <a:rPr lang="en-US" b="0" dirty="0" smtClean="0">
                <a:ln w="50800"/>
                <a:effectLst/>
                <a:latin typeface="Times New Roman"/>
                <a:cs typeface="Times New Roman"/>
              </a:rPr>
              <a:t>. </a:t>
            </a:r>
          </a:p>
          <a:p>
            <a:pPr marL="0" indent="0">
              <a:buNone/>
            </a:pPr>
            <a:r>
              <a:rPr lang="en-US" b="0" dirty="0" smtClean="0">
                <a:ln w="50800"/>
                <a:solidFill>
                  <a:schemeClr val="accent1"/>
                </a:solidFill>
                <a:effectLst/>
                <a:latin typeface="Times New Roman"/>
                <a:cs typeface="Times New Roman"/>
              </a:rPr>
              <a:t>The goal is to have augmented reality work much like this HP commercial [</a:t>
            </a:r>
            <a:r>
              <a:rPr lang="en-US" b="0" u="sng" dirty="0" smtClean="0">
                <a:ln w="50800"/>
                <a:solidFill>
                  <a:schemeClr val="bg1">
                    <a:shade val="50000"/>
                  </a:schemeClr>
                </a:solidFill>
                <a:effectLst/>
                <a:latin typeface="Times New Roman"/>
                <a:cs typeface="Times New Roman"/>
                <a:hlinkClick r:id="rId2"/>
              </a:rPr>
              <a:t>http://www.youtube.com/watch?v=BraU_cpfBeI Jerry Seinfeld for HP]</a:t>
            </a:r>
            <a:endParaRPr lang="en-US" b="0" dirty="0">
              <a:ln w="50800"/>
              <a:solidFill>
                <a:schemeClr val="bg1">
                  <a:shade val="50000"/>
                </a:schemeClr>
              </a:solidFill>
              <a:effectLst/>
              <a:latin typeface="Times New Roman"/>
              <a:cs typeface="Times New Roman"/>
            </a:endParaRPr>
          </a:p>
        </p:txBody>
      </p:sp>
    </p:spTree>
    <p:extLst>
      <p:ext uri="{BB962C8B-B14F-4D97-AF65-F5344CB8AC3E}">
        <p14:creationId xmlns:p14="http://schemas.microsoft.com/office/powerpoint/2010/main" val="1626058357"/>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2D908"/>
                </a:solidFill>
              </a:rPr>
              <a:t>How it works</a:t>
            </a:r>
            <a:endParaRPr lang="en-US" dirty="0">
              <a:solidFill>
                <a:srgbClr val="F2D908"/>
              </a:solidFill>
            </a:endParaRPr>
          </a:p>
        </p:txBody>
      </p:sp>
      <p:sp>
        <p:nvSpPr>
          <p:cNvPr id="3" name="Content Placeholder 2"/>
          <p:cNvSpPr>
            <a:spLocks noGrp="1"/>
          </p:cNvSpPr>
          <p:nvPr>
            <p:ph idx="1"/>
          </p:nvPr>
        </p:nvSpPr>
        <p:spPr/>
        <p:txBody>
          <a:bodyPr>
            <a:normAutofit lnSpcReduction="10000"/>
          </a:bodyPr>
          <a:lstStyle/>
          <a:p>
            <a:pPr marL="0" indent="0" algn="just">
              <a:buNone/>
            </a:pPr>
            <a:r>
              <a:rPr lang="en-US" b="0" dirty="0" smtClean="0">
                <a:latin typeface="Times New Roman"/>
                <a:cs typeface="Times New Roman"/>
              </a:rPr>
              <a:t>Smart phones 'camera,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compass</a:t>
            </a:r>
            <a:r>
              <a:rPr lang="en-US" b="0" dirty="0" smtClean="0">
                <a:latin typeface="Times New Roman"/>
                <a:cs typeface="Times New Roman"/>
              </a:rPr>
              <a:t> and GPS information is needed to operate an AR Browser.</a:t>
            </a:r>
          </a:p>
          <a:p>
            <a:pPr marL="0" indent="0" algn="just">
              <a:buNone/>
            </a:pPr>
            <a:r>
              <a:rPr lang="en-US" b="0" dirty="0" smtClean="0">
                <a:latin typeface="Times New Roman"/>
                <a:cs typeface="Times New Roman"/>
              </a:rPr>
              <a:t>The browser first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locates the user </a:t>
            </a:r>
            <a:r>
              <a:rPr lang="en-US" b="0" dirty="0" smtClean="0">
                <a:latin typeface="Times New Roman"/>
                <a:cs typeface="Times New Roman"/>
              </a:rPr>
              <a:t>with GPS and compass of phone. Next, it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retrieves information </a:t>
            </a:r>
            <a:r>
              <a:rPr lang="en-US" b="0" dirty="0" smtClean="0">
                <a:latin typeface="Times New Roman"/>
                <a:cs typeface="Times New Roman"/>
              </a:rPr>
              <a:t>from online sources based on those geographical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coordinates</a:t>
            </a:r>
            <a:r>
              <a:rPr lang="en-US" b="0" dirty="0" smtClean="0">
                <a:latin typeface="Times New Roman"/>
                <a:cs typeface="Times New Roman"/>
              </a:rPr>
              <a:t>. </a:t>
            </a:r>
          </a:p>
          <a:p>
            <a:pPr marL="0" indent="0" algn="just">
              <a:buNone/>
            </a:pPr>
            <a:r>
              <a:rPr lang="en-US" b="0" dirty="0" smtClean="0">
                <a:latin typeface="Times New Roman"/>
                <a:cs typeface="Times New Roman"/>
              </a:rPr>
              <a:t>The information and graphics are then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overlaid</a:t>
            </a:r>
            <a:r>
              <a:rPr lang="en-US" b="0" dirty="0" smtClean="0">
                <a:latin typeface="Times New Roman"/>
                <a:cs typeface="Times New Roman"/>
              </a:rPr>
              <a:t> onto the camera view of the smart phone’ screen.  In effect, the AR browser label the real world.</a:t>
            </a:r>
          </a:p>
          <a:p>
            <a:pPr marL="0" indent="0" algn="just">
              <a:buNone/>
            </a:pPr>
            <a:r>
              <a:rPr lang="en-US" b="0" dirty="0">
                <a:latin typeface="Times New Roman"/>
                <a:cs typeface="Times New Roman"/>
                <a:hlinkClick r:id="rId2"/>
              </a:rPr>
              <a:t>http://www.youtube.com/watch?v=</a:t>
            </a:r>
            <a:r>
              <a:rPr lang="en-US" b="0" dirty="0" smtClean="0">
                <a:latin typeface="Times New Roman"/>
                <a:cs typeface="Times New Roman"/>
                <a:hlinkClick r:id="rId2"/>
              </a:rPr>
              <a:t>BraU_cpfBeI</a:t>
            </a:r>
            <a:endParaRPr lang="en-US" b="0" dirty="0" smtClean="0">
              <a:latin typeface="Times New Roman"/>
              <a:cs typeface="Times New Roman"/>
            </a:endParaRPr>
          </a:p>
          <a:p>
            <a:pPr marL="0" indent="0" algn="just">
              <a:buNone/>
            </a:pPr>
            <a:endParaRPr lang="en-US" b="0" dirty="0">
              <a:latin typeface="Times New Roman"/>
              <a:cs typeface="Times New Roman"/>
            </a:endParaRPr>
          </a:p>
        </p:txBody>
      </p:sp>
    </p:spTree>
    <p:extLst>
      <p:ext uri="{BB962C8B-B14F-4D97-AF65-F5344CB8AC3E}">
        <p14:creationId xmlns:p14="http://schemas.microsoft.com/office/powerpoint/2010/main" val="1099143702"/>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2D908"/>
                </a:solidFill>
              </a:rPr>
              <a:t>Why Is AR Important?</a:t>
            </a:r>
            <a:endParaRPr lang="en-US" dirty="0">
              <a:solidFill>
                <a:srgbClr val="F2D908"/>
              </a:solidFill>
            </a:endParaRPr>
          </a:p>
        </p:txBody>
      </p:sp>
      <p:sp>
        <p:nvSpPr>
          <p:cNvPr id="3" name="Content Placeholder 2"/>
          <p:cNvSpPr>
            <a:spLocks noGrp="1"/>
          </p:cNvSpPr>
          <p:nvPr>
            <p:ph idx="1"/>
          </p:nvPr>
        </p:nvSpPr>
        <p:spPr>
          <a:xfrm>
            <a:off x="779462" y="1668813"/>
            <a:ext cx="7581901" cy="3953436"/>
          </a:xfrm>
        </p:spPr>
        <p:txBody>
          <a:bodyPr/>
          <a:lstStyle/>
          <a:p>
            <a:pPr marL="0" indent="0" algn="just">
              <a:buNone/>
            </a:pPr>
            <a:r>
              <a:rPr lang="en-US" b="0" dirty="0" smtClean="0">
                <a:latin typeface="Times New Roman"/>
                <a:cs typeface="Times New Roman"/>
              </a:rPr>
              <a:t>There are numerous areas in which Augmented Reality importance can be explained. However, I have purposely chosen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Education</a:t>
            </a:r>
            <a:r>
              <a:rPr lang="en-US" b="0" dirty="0" smtClean="0">
                <a:effectLst>
                  <a:outerShdw blurRad="101600" dist="63500" dir="2700000" algn="tl" rotWithShape="0">
                    <a:prstClr val="black">
                      <a:alpha val="75000"/>
                    </a:prstClr>
                  </a:outerShdw>
                </a:effectLst>
                <a:latin typeface="Times New Roman"/>
                <a:cs typeface="Times New Roman"/>
              </a:rPr>
              <a:t>,</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 Medicine</a:t>
            </a:r>
            <a:r>
              <a:rPr lang="en-US" b="0" dirty="0" smtClean="0">
                <a:effectLst>
                  <a:outerShdw blurRad="101600" dist="63500" dir="2700000" algn="tl" rotWithShape="0">
                    <a:prstClr val="black">
                      <a:alpha val="75000"/>
                    </a:prstClr>
                  </a:outerShdw>
                </a:effectLst>
                <a:latin typeface="Times New Roman"/>
                <a:cs typeface="Times New Roman"/>
              </a:rPr>
              <a:t>,</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 Architecture </a:t>
            </a:r>
            <a:r>
              <a:rPr lang="en-US" b="0" dirty="0" smtClean="0">
                <a:effectLst>
                  <a:outerShdw blurRad="101600" dist="63500" dir="2700000" algn="tl" rotWithShape="0">
                    <a:prstClr val="black">
                      <a:alpha val="75000"/>
                    </a:prstClr>
                  </a:outerShdw>
                </a:effectLst>
                <a:latin typeface="Times New Roman"/>
                <a:cs typeface="Times New Roman"/>
              </a:rPr>
              <a:t>and</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 Activities </a:t>
            </a:r>
            <a:r>
              <a:rPr lang="en-US" b="0" dirty="0" smtClean="0">
                <a:latin typeface="Times New Roman"/>
                <a:cs typeface="Times New Roman"/>
              </a:rPr>
              <a:t>to show how AR can highly improve the way of learning, diagnosing,  building and doing. </a:t>
            </a:r>
          </a:p>
        </p:txBody>
      </p:sp>
      <p:pic>
        <p:nvPicPr>
          <p:cNvPr id="4" name="Picture 3" descr="Architec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1655" y="4708426"/>
            <a:ext cx="2502117" cy="1875718"/>
          </a:xfrm>
          <a:prstGeom prst="rect">
            <a:avLst/>
          </a:prstGeom>
        </p:spPr>
      </p:pic>
      <p:pic>
        <p:nvPicPr>
          <p:cNvPr id="5" name="Picture 4" descr="dailyTask.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8419" y="3513828"/>
            <a:ext cx="2312944" cy="2322196"/>
          </a:xfrm>
          <a:prstGeom prst="rect">
            <a:avLst/>
          </a:prstGeom>
        </p:spPr>
      </p:pic>
      <p:pic>
        <p:nvPicPr>
          <p:cNvPr id="6" name="Picture 5" descr="education.jpe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0510" y="3851496"/>
            <a:ext cx="1681431" cy="1681431"/>
          </a:xfrm>
          <a:prstGeom prst="rect">
            <a:avLst/>
          </a:prstGeom>
        </p:spPr>
      </p:pic>
      <p:pic>
        <p:nvPicPr>
          <p:cNvPr id="7" name="Picture 6" descr="medicine.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129" y="4111973"/>
            <a:ext cx="2422228" cy="2472171"/>
          </a:xfrm>
          <a:prstGeom prst="rect">
            <a:avLst/>
          </a:prstGeom>
        </p:spPr>
      </p:pic>
      <p:sp>
        <p:nvSpPr>
          <p:cNvPr id="8" name="TextBox 7"/>
          <p:cNvSpPr txBox="1"/>
          <p:nvPr/>
        </p:nvSpPr>
        <p:spPr>
          <a:xfrm>
            <a:off x="5783772" y="6228499"/>
            <a:ext cx="1428596" cy="369332"/>
          </a:xfrm>
          <a:prstGeom prst="rect">
            <a:avLst/>
          </a:prstGeom>
          <a:noFill/>
        </p:spPr>
        <p:txBody>
          <a:bodyPr wrap="none" rtlCol="0">
            <a:spAutoFit/>
          </a:bodyPr>
          <a:lstStyle/>
          <a:p>
            <a:r>
              <a:rPr lang="en-US" b="1" dirty="0" smtClean="0">
                <a:solidFill>
                  <a:srgbClr val="F2D908"/>
                </a:solidFill>
              </a:rPr>
              <a:t>Architecture</a:t>
            </a:r>
            <a:endParaRPr lang="en-US" b="1" dirty="0">
              <a:solidFill>
                <a:srgbClr val="F2D908"/>
              </a:solidFill>
            </a:endParaRPr>
          </a:p>
        </p:txBody>
      </p:sp>
      <p:sp>
        <p:nvSpPr>
          <p:cNvPr id="9" name="TextBox 8"/>
          <p:cNvSpPr txBox="1"/>
          <p:nvPr/>
        </p:nvSpPr>
        <p:spPr>
          <a:xfrm>
            <a:off x="5066997" y="3780366"/>
            <a:ext cx="1100782" cy="369332"/>
          </a:xfrm>
          <a:prstGeom prst="rect">
            <a:avLst/>
          </a:prstGeom>
          <a:noFill/>
        </p:spPr>
        <p:txBody>
          <a:bodyPr wrap="none" rtlCol="0">
            <a:spAutoFit/>
          </a:bodyPr>
          <a:lstStyle/>
          <a:p>
            <a:r>
              <a:rPr lang="en-US" b="1" dirty="0" smtClean="0">
                <a:solidFill>
                  <a:srgbClr val="F2D908"/>
                </a:solidFill>
              </a:rPr>
              <a:t>Activities</a:t>
            </a:r>
            <a:endParaRPr lang="en-US" b="1" dirty="0">
              <a:solidFill>
                <a:srgbClr val="F2D908"/>
              </a:solidFill>
            </a:endParaRPr>
          </a:p>
        </p:txBody>
      </p:sp>
      <p:sp>
        <p:nvSpPr>
          <p:cNvPr id="10" name="TextBox 9"/>
          <p:cNvSpPr txBox="1"/>
          <p:nvPr/>
        </p:nvSpPr>
        <p:spPr>
          <a:xfrm>
            <a:off x="2888303" y="3792283"/>
            <a:ext cx="1171452" cy="369332"/>
          </a:xfrm>
          <a:prstGeom prst="rect">
            <a:avLst/>
          </a:prstGeom>
          <a:noFill/>
        </p:spPr>
        <p:txBody>
          <a:bodyPr wrap="none" rtlCol="0">
            <a:spAutoFit/>
          </a:bodyPr>
          <a:lstStyle/>
          <a:p>
            <a:r>
              <a:rPr lang="en-US" b="1" dirty="0" smtClean="0">
                <a:solidFill>
                  <a:srgbClr val="F2D908"/>
                </a:solidFill>
              </a:rPr>
              <a:t>Education</a:t>
            </a:r>
            <a:endParaRPr lang="en-US" b="1" dirty="0">
              <a:solidFill>
                <a:srgbClr val="F2D908"/>
              </a:solidFill>
            </a:endParaRPr>
          </a:p>
        </p:txBody>
      </p:sp>
      <p:sp>
        <p:nvSpPr>
          <p:cNvPr id="11" name="TextBox 10"/>
          <p:cNvSpPr txBox="1"/>
          <p:nvPr/>
        </p:nvSpPr>
        <p:spPr>
          <a:xfrm>
            <a:off x="1896519" y="6043833"/>
            <a:ext cx="1095172" cy="369332"/>
          </a:xfrm>
          <a:prstGeom prst="rect">
            <a:avLst/>
          </a:prstGeom>
          <a:noFill/>
        </p:spPr>
        <p:txBody>
          <a:bodyPr wrap="none" rtlCol="0">
            <a:spAutoFit/>
          </a:bodyPr>
          <a:lstStyle/>
          <a:p>
            <a:r>
              <a:rPr lang="en-US" b="1" dirty="0" smtClean="0">
                <a:solidFill>
                  <a:srgbClr val="F2D908"/>
                </a:solidFill>
              </a:rPr>
              <a:t>Medicine</a:t>
            </a:r>
            <a:endParaRPr lang="en-US" b="1" dirty="0">
              <a:solidFill>
                <a:srgbClr val="F2D908"/>
              </a:solidFill>
            </a:endParaRPr>
          </a:p>
        </p:txBody>
      </p:sp>
    </p:spTree>
    <p:extLst>
      <p:ext uri="{BB962C8B-B14F-4D97-AF65-F5344CB8AC3E}">
        <p14:creationId xmlns:p14="http://schemas.microsoft.com/office/powerpoint/2010/main" val="4199420789"/>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2" y="107577"/>
            <a:ext cx="7581901" cy="1049308"/>
          </a:xfrm>
        </p:spPr>
        <p:txBody>
          <a:bodyPr>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r>
              <a:rPr lang="en-US" dirty="0" smtClean="0">
                <a:solidFill>
                  <a:srgbClr val="F2D908"/>
                </a:solidFill>
              </a:rPr>
              <a:t>Education</a:t>
            </a:r>
            <a:endParaRPr lang="en-US"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Times New Roman"/>
              <a:cs typeface="Times New Roman"/>
            </a:endParaRPr>
          </a:p>
        </p:txBody>
      </p:sp>
      <p:sp>
        <p:nvSpPr>
          <p:cNvPr id="3" name="Content Placeholder 2"/>
          <p:cNvSpPr>
            <a:spLocks noGrp="1"/>
          </p:cNvSpPr>
          <p:nvPr>
            <p:ph idx="1"/>
          </p:nvPr>
        </p:nvSpPr>
        <p:spPr>
          <a:xfrm>
            <a:off x="427491" y="1446106"/>
            <a:ext cx="8575054" cy="4941910"/>
          </a:xfrm>
        </p:spPr>
        <p:txBody>
          <a:bodyPr>
            <a:normAutofit/>
          </a:bodyPr>
          <a:lstStyle/>
          <a:p>
            <a:pPr marL="0" indent="0" algn="just">
              <a:buNone/>
            </a:pPr>
            <a:r>
              <a:rPr lang="en-US" b="0" dirty="0" smtClean="0">
                <a:latin typeface="Times New Roman"/>
                <a:cs typeface="Times New Roman"/>
              </a:rPr>
              <a:t>It provides a rich contextual learning for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individuals learning a skill. </a:t>
            </a:r>
          </a:p>
          <a:p>
            <a:pPr marL="0" indent="0" algn="just">
              <a:buNone/>
            </a:pPr>
            <a:r>
              <a:rPr lang="en-US" b="0" dirty="0" smtClean="0">
                <a:latin typeface="Times New Roman"/>
                <a:cs typeface="Times New Roman"/>
              </a:rPr>
              <a:t>It appeals to constructivist notions of education where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students take control of their own learning</a:t>
            </a:r>
            <a:r>
              <a:rPr lang="en-US" b="0" dirty="0" smtClean="0">
                <a:latin typeface="Times New Roman"/>
                <a:cs typeface="Times New Roman"/>
              </a:rPr>
              <a:t>.</a:t>
            </a:r>
          </a:p>
          <a:p>
            <a:pPr marL="0" indent="0" algn="just">
              <a:buNone/>
            </a:pPr>
            <a:r>
              <a:rPr lang="en-US" b="0" dirty="0" smtClean="0">
                <a:latin typeface="Times New Roman"/>
                <a:cs typeface="Times New Roman"/>
              </a:rPr>
              <a:t>It provides opportunities for more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authentic learning </a:t>
            </a:r>
            <a:r>
              <a:rPr lang="en-US" b="0" dirty="0" smtClean="0">
                <a:latin typeface="Times New Roman"/>
                <a:cs typeface="Times New Roman"/>
              </a:rPr>
              <a:t>and appeals to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multiple learning styles</a:t>
            </a:r>
            <a:r>
              <a:rPr lang="en-US" b="0" dirty="0" smtClean="0">
                <a:latin typeface="Times New Roman"/>
                <a:cs typeface="Times New Roman"/>
              </a:rPr>
              <a:t>.</a:t>
            </a:r>
          </a:p>
          <a:p>
            <a:pPr marL="0" indent="0" algn="just">
              <a:buNone/>
            </a:pPr>
            <a:r>
              <a:rPr lang="en-US" b="0" dirty="0" smtClean="0">
                <a:latin typeface="Times New Roman"/>
                <a:cs typeface="Times New Roman"/>
              </a:rPr>
              <a:t>It has the power to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engage a learner </a:t>
            </a:r>
            <a:r>
              <a:rPr lang="en-US" b="0" dirty="0" smtClean="0">
                <a:latin typeface="Times New Roman"/>
                <a:cs typeface="Times New Roman"/>
              </a:rPr>
              <a:t>in ways that have never been possible.</a:t>
            </a:r>
          </a:p>
          <a:p>
            <a:pPr marL="0" indent="0" algn="just">
              <a:buNone/>
            </a:pPr>
            <a:r>
              <a:rPr lang="en-US" b="0" dirty="0" smtClean="0">
                <a:latin typeface="Times New Roman"/>
                <a:cs typeface="Times New Roman"/>
              </a:rPr>
              <a:t>It can provide each student with his/her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own unique discovery path</a:t>
            </a:r>
            <a:r>
              <a:rPr lang="en-US" b="0" dirty="0" smtClean="0">
                <a:latin typeface="Times New Roman"/>
                <a:cs typeface="Times New Roman"/>
              </a:rPr>
              <a:t>.</a:t>
            </a:r>
          </a:p>
          <a:p>
            <a:pPr marL="0" indent="0" algn="just">
              <a:buNone/>
            </a:pP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No real consequences </a:t>
            </a:r>
            <a:r>
              <a:rPr lang="en-US" b="0" dirty="0" smtClean="0">
                <a:latin typeface="Times New Roman"/>
                <a:cs typeface="Times New Roman"/>
              </a:rPr>
              <a:t>if mistakes are made during skills training</a:t>
            </a:r>
            <a:endParaRPr lang="en-US" b="0" dirty="0">
              <a:latin typeface="Times New Roman"/>
              <a:cs typeface="Times New Roman"/>
            </a:endParaRPr>
          </a:p>
        </p:txBody>
      </p:sp>
    </p:spTree>
    <p:extLst>
      <p:ext uri="{BB962C8B-B14F-4D97-AF65-F5344CB8AC3E}">
        <p14:creationId xmlns:p14="http://schemas.microsoft.com/office/powerpoint/2010/main" val="2614605984"/>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789" y="107577"/>
            <a:ext cx="8197853" cy="1653988"/>
          </a:xfrm>
        </p:spPr>
        <p:txBody>
          <a:bodyPr/>
          <a:lstStyle/>
          <a:p>
            <a:r>
              <a:rPr lang="en-US" dirty="0" smtClean="0">
                <a:solidFill>
                  <a:srgbClr val="F2D908"/>
                </a:solidFill>
              </a:rPr>
              <a:t>Where Does It Take Place?</a:t>
            </a:r>
            <a:endParaRPr lang="en-US" dirty="0">
              <a:solidFill>
                <a:srgbClr val="F2D908"/>
              </a:solidFill>
            </a:endParaRPr>
          </a:p>
        </p:txBody>
      </p:sp>
      <p:sp>
        <p:nvSpPr>
          <p:cNvPr id="3" name="Content Placeholder 2"/>
          <p:cNvSpPr>
            <a:spLocks noGrp="1"/>
          </p:cNvSpPr>
          <p:nvPr>
            <p:ph idx="1"/>
          </p:nvPr>
        </p:nvSpPr>
        <p:spPr>
          <a:xfrm>
            <a:off x="779462" y="1651744"/>
            <a:ext cx="7581901" cy="3953436"/>
          </a:xfrm>
        </p:spPr>
        <p:txBody>
          <a:bodyPr/>
          <a:lstStyle/>
          <a:p>
            <a:pPr marL="0" indent="0">
              <a:buNone/>
            </a:pPr>
            <a:r>
              <a:rPr lang="en-US" dirty="0" smtClean="0"/>
              <a:t>According to my research, educational improvement have been more noticeable in the following areas:</a:t>
            </a:r>
          </a:p>
          <a:p>
            <a:pPr marL="0" indent="0">
              <a:buNone/>
            </a:pPr>
            <a:endParaRPr lang="en-US" dirty="0"/>
          </a:p>
        </p:txBody>
      </p:sp>
      <p:pic>
        <p:nvPicPr>
          <p:cNvPr id="4" name="Picture 3" descr="Screen Shot 2013-10-06 at 10.47.13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6369" y="2701670"/>
            <a:ext cx="6950927" cy="3695922"/>
          </a:xfrm>
          <a:prstGeom prst="rect">
            <a:avLst/>
          </a:prstGeom>
        </p:spPr>
      </p:pic>
    </p:spTree>
    <p:extLst>
      <p:ext uri="{BB962C8B-B14F-4D97-AF65-F5344CB8AC3E}">
        <p14:creationId xmlns:p14="http://schemas.microsoft.com/office/powerpoint/2010/main" val="4129437776"/>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Shot 2013-10-06 at 10.55.00 PM.png"/>
          <p:cNvPicPr>
            <a:picLocks noGrp="1" noChangeAspect="1"/>
          </p:cNvPicPr>
          <p:nvPr>
            <p:ph idx="1"/>
          </p:nvPr>
        </p:nvPicPr>
        <p:blipFill>
          <a:blip r:embed="rId2">
            <a:extLst>
              <a:ext uri="{28A0092B-C50C-407E-A947-70E740481C1C}">
                <a14:useLocalDpi xmlns:a14="http://schemas.microsoft.com/office/drawing/2010/main" val="0"/>
              </a:ext>
            </a:extLst>
          </a:blip>
          <a:srcRect t="3014" b="3014"/>
          <a:stretch>
            <a:fillRect/>
          </a:stretch>
        </p:blipFill>
        <p:spPr>
          <a:xfrm>
            <a:off x="2417675" y="3207092"/>
            <a:ext cx="6412487" cy="3343668"/>
          </a:xfrm>
        </p:spPr>
      </p:pic>
      <p:sp>
        <p:nvSpPr>
          <p:cNvPr id="6" name="TextBox 5"/>
          <p:cNvSpPr txBox="1"/>
          <p:nvPr/>
        </p:nvSpPr>
        <p:spPr>
          <a:xfrm>
            <a:off x="137914" y="198837"/>
            <a:ext cx="8980428" cy="2523768"/>
          </a:xfrm>
          <a:prstGeom prst="rect">
            <a:avLst/>
          </a:prstGeom>
          <a:noFill/>
        </p:spPr>
        <p:txBody>
          <a:bodyPr wrap="square" rtlCol="0">
            <a:spAutoFit/>
          </a:bodyPr>
          <a:lstStyle/>
          <a:p>
            <a:pPr algn="just"/>
            <a:r>
              <a:rPr lang="en-US" sz="2400" b="1" dirty="0" smtClean="0">
                <a:solidFill>
                  <a:srgbClr val="F2D908"/>
                </a:solidFill>
                <a:latin typeface="Times New Roman"/>
                <a:cs typeface="Times New Roman"/>
              </a:rPr>
              <a:t>Several uses of the AR skills training:</a:t>
            </a:r>
          </a:p>
          <a:p>
            <a:pPr algn="just"/>
            <a:endParaRPr lang="en-US" sz="1200" dirty="0" smtClean="0">
              <a:latin typeface="Times New Roman"/>
              <a:cs typeface="Times New Roman"/>
            </a:endParaRPr>
          </a:p>
          <a:p>
            <a:pPr algn="just"/>
            <a:r>
              <a:rPr lang="en-US" sz="2400" dirty="0" smtClean="0">
                <a:latin typeface="Times New Roman"/>
                <a:cs typeface="Times New Roman"/>
              </a:rPr>
              <a:t>The</a:t>
            </a:r>
            <a:r>
              <a:rPr lang="en-US" sz="2400" dirty="0" smtClean="0">
                <a:effectLst>
                  <a:glow rad="228600">
                    <a:schemeClr val="accent1">
                      <a:satMod val="175000"/>
                      <a:alpha val="40000"/>
                    </a:schemeClr>
                  </a:glow>
                </a:effectLst>
                <a:latin typeface="Times New Roman"/>
                <a:cs typeface="Times New Roman"/>
              </a:rPr>
              <a:t> military </a:t>
            </a:r>
            <a:r>
              <a:rPr lang="en-US" sz="2400" dirty="0" smtClean="0">
                <a:latin typeface="Times New Roman"/>
                <a:cs typeface="Times New Roman"/>
              </a:rPr>
              <a:t>is using AR to </a:t>
            </a:r>
            <a:r>
              <a:rPr lang="en-US" sz="2400" dirty="0" smtClean="0">
                <a:effectLst>
                  <a:glow rad="228600">
                    <a:schemeClr val="accent1">
                      <a:satMod val="175000"/>
                      <a:alpha val="40000"/>
                    </a:schemeClr>
                  </a:glow>
                </a:effectLst>
                <a:latin typeface="Times New Roman"/>
                <a:cs typeface="Times New Roman"/>
              </a:rPr>
              <a:t>train mechanics</a:t>
            </a:r>
            <a:r>
              <a:rPr lang="en-US" sz="2400" dirty="0" smtClean="0">
                <a:latin typeface="Times New Roman"/>
                <a:cs typeface="Times New Roman"/>
              </a:rPr>
              <a:t> and to train </a:t>
            </a:r>
            <a:r>
              <a:rPr lang="en-US" sz="2400" dirty="0" smtClean="0">
                <a:effectLst>
                  <a:glow rad="228600">
                    <a:schemeClr val="accent1">
                      <a:satMod val="175000"/>
                      <a:alpha val="40000"/>
                    </a:schemeClr>
                  </a:glow>
                </a:effectLst>
                <a:latin typeface="Times New Roman"/>
                <a:cs typeface="Times New Roman"/>
              </a:rPr>
              <a:t>their troops </a:t>
            </a:r>
            <a:r>
              <a:rPr lang="en-US" sz="2400" dirty="0" smtClean="0">
                <a:latin typeface="Times New Roman"/>
                <a:cs typeface="Times New Roman"/>
              </a:rPr>
              <a:t>with AR games.</a:t>
            </a:r>
          </a:p>
          <a:p>
            <a:pPr algn="just"/>
            <a:endParaRPr lang="en-US" sz="1200" dirty="0">
              <a:latin typeface="Times New Roman"/>
              <a:cs typeface="Times New Roman"/>
            </a:endParaRPr>
          </a:p>
          <a:p>
            <a:pPr algn="just"/>
            <a:r>
              <a:rPr lang="en-US" sz="2400" dirty="0" smtClean="0">
                <a:latin typeface="Times New Roman"/>
                <a:cs typeface="Times New Roman"/>
              </a:rPr>
              <a:t>The </a:t>
            </a:r>
            <a:r>
              <a:rPr lang="en-US" sz="2400" dirty="0" smtClean="0">
                <a:effectLst>
                  <a:glow rad="228600">
                    <a:schemeClr val="accent1">
                      <a:satMod val="175000"/>
                      <a:alpha val="40000"/>
                    </a:schemeClr>
                  </a:glow>
                </a:effectLst>
                <a:latin typeface="Times New Roman"/>
                <a:cs typeface="Times New Roman"/>
              </a:rPr>
              <a:t>firefighters</a:t>
            </a:r>
            <a:r>
              <a:rPr lang="en-US" sz="2400" dirty="0" smtClean="0">
                <a:latin typeface="Times New Roman"/>
                <a:cs typeface="Times New Roman"/>
              </a:rPr>
              <a:t> are using AR to </a:t>
            </a:r>
            <a:r>
              <a:rPr lang="en-US" sz="2400" dirty="0" smtClean="0">
                <a:effectLst>
                  <a:glow rad="228600">
                    <a:schemeClr val="accent1">
                      <a:satMod val="175000"/>
                      <a:alpha val="40000"/>
                    </a:schemeClr>
                  </a:glow>
                </a:effectLst>
                <a:latin typeface="Times New Roman"/>
                <a:cs typeface="Times New Roman"/>
              </a:rPr>
              <a:t>fight fires</a:t>
            </a:r>
            <a:r>
              <a:rPr lang="en-US" sz="2400" dirty="0" smtClean="0">
                <a:latin typeface="Times New Roman"/>
                <a:cs typeface="Times New Roman"/>
              </a:rPr>
              <a:t>.</a:t>
            </a:r>
          </a:p>
          <a:p>
            <a:pPr algn="just"/>
            <a:endParaRPr lang="en-US" sz="1200" dirty="0" smtClean="0">
              <a:latin typeface="Times New Roman"/>
              <a:cs typeface="Times New Roman"/>
            </a:endParaRPr>
          </a:p>
          <a:p>
            <a:pPr algn="just"/>
            <a:r>
              <a:rPr lang="en-US" sz="2400" dirty="0" smtClean="0">
                <a:effectLst>
                  <a:glow rad="228600">
                    <a:schemeClr val="accent1">
                      <a:satMod val="175000"/>
                      <a:alpha val="40000"/>
                    </a:schemeClr>
                  </a:glow>
                </a:effectLst>
                <a:latin typeface="Times New Roman"/>
                <a:cs typeface="Times New Roman"/>
              </a:rPr>
              <a:t>Surgeon</a:t>
            </a:r>
            <a:r>
              <a:rPr lang="en-US" sz="2400" dirty="0" smtClean="0">
                <a:latin typeface="Times New Roman"/>
                <a:cs typeface="Times New Roman"/>
              </a:rPr>
              <a:t> </a:t>
            </a:r>
            <a:r>
              <a:rPr lang="en-US" sz="2400" dirty="0" smtClean="0">
                <a:latin typeface="Times New Roman"/>
                <a:cs typeface="Times New Roman"/>
              </a:rPr>
              <a:t> are learning</a:t>
            </a:r>
            <a:r>
              <a:rPr lang="en-US" sz="2400" dirty="0" smtClean="0">
                <a:effectLst>
                  <a:glow rad="228600">
                    <a:schemeClr val="accent1">
                      <a:satMod val="175000"/>
                      <a:alpha val="40000"/>
                    </a:schemeClr>
                  </a:glow>
                </a:effectLst>
                <a:latin typeface="Times New Roman"/>
                <a:cs typeface="Times New Roman"/>
              </a:rPr>
              <a:t> procedure </a:t>
            </a:r>
            <a:r>
              <a:rPr lang="en-US" sz="2400" dirty="0" smtClean="0">
                <a:latin typeface="Times New Roman"/>
                <a:cs typeface="Times New Roman"/>
              </a:rPr>
              <a:t>by using AR applications.</a:t>
            </a:r>
            <a:endParaRPr lang="en-US" sz="2400" dirty="0">
              <a:latin typeface="Times New Roman"/>
              <a:cs typeface="Times New Roman"/>
            </a:endParaRPr>
          </a:p>
        </p:txBody>
      </p:sp>
      <p:cxnSp>
        <p:nvCxnSpPr>
          <p:cNvPr id="8" name="Straight Arrow Connector 7"/>
          <p:cNvCxnSpPr/>
          <p:nvPr/>
        </p:nvCxnSpPr>
        <p:spPr>
          <a:xfrm>
            <a:off x="962189" y="1462356"/>
            <a:ext cx="1873060" cy="383547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3579342" y="2026774"/>
            <a:ext cx="1719111" cy="32710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a:off x="5555036" y="2539881"/>
            <a:ext cx="410534" cy="66721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a:off x="5555036" y="2539881"/>
            <a:ext cx="2127307" cy="66721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3738478"/>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2D908"/>
                </a:solidFill>
              </a:rPr>
              <a:t>Training</a:t>
            </a:r>
            <a:endParaRPr lang="en-US" dirty="0">
              <a:solidFill>
                <a:srgbClr val="F2D908"/>
              </a:solidFill>
            </a:endParaRPr>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a:latin typeface="Times New Roman"/>
                <a:cs typeface="Times New Roman"/>
              </a:rPr>
              <a:t>The Military</a:t>
            </a:r>
            <a:r>
              <a:rPr lang="en-US" b="0" dirty="0">
                <a:latin typeface="Times New Roman"/>
                <a:cs typeface="Times New Roman"/>
              </a:rPr>
              <a:t> has long been a leader in the use of augmented reality especially in the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area of training</a:t>
            </a:r>
            <a:r>
              <a:rPr lang="en-US" b="0" dirty="0">
                <a:latin typeface="Times New Roman"/>
                <a:cs typeface="Times New Roman"/>
              </a:rPr>
              <a:t>. Virtual displays layered over the field of vision of the user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to enhance scenes</a:t>
            </a:r>
            <a:r>
              <a:rPr lang="en-US" b="0" dirty="0">
                <a:latin typeface="Times New Roman"/>
                <a:cs typeface="Times New Roman"/>
              </a:rPr>
              <a:t> using wearable head gear have become common. </a:t>
            </a:r>
            <a:endParaRPr lang="en-US" b="0" dirty="0" smtClean="0">
              <a:latin typeface="Times New Roman"/>
              <a:cs typeface="Times New Roman"/>
            </a:endParaRPr>
          </a:p>
          <a:p>
            <a:pPr marL="0" indent="0" algn="just">
              <a:buNone/>
            </a:pPr>
            <a:r>
              <a:rPr lang="en-US" b="0" dirty="0" smtClean="0">
                <a:latin typeface="Times New Roman"/>
                <a:cs typeface="Times New Roman"/>
              </a:rPr>
              <a:t>In </a:t>
            </a:r>
            <a:r>
              <a:rPr lang="en-US" b="0" dirty="0">
                <a:latin typeface="Times New Roman"/>
                <a:cs typeface="Times New Roman"/>
              </a:rPr>
              <a:t>2009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Sarnoff Corporation </a:t>
            </a:r>
            <a:r>
              <a:rPr lang="en-US" b="0" dirty="0">
                <a:latin typeface="Times New Roman"/>
                <a:cs typeface="Times New Roman"/>
              </a:rPr>
              <a:t>demonstrated the first augmented reality training system for US Warfighters in what the military calls its </a:t>
            </a:r>
            <a:r>
              <a:rPr lang="en-US" dirty="0">
                <a:latin typeface="Times New Roman"/>
                <a:cs typeface="Times New Roman"/>
              </a:rPr>
              <a:t>Future Immersive Training Environment (FITE) Joint Capability Technology Demonstration (JCTD)</a:t>
            </a:r>
            <a:r>
              <a:rPr lang="en-US" b="0" dirty="0" smtClean="0">
                <a:latin typeface="Times New Roman"/>
                <a:cs typeface="Times New Roman"/>
              </a:rPr>
              <a:t>.</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The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36 Million dollar </a:t>
            </a:r>
            <a:r>
              <a:rPr lang="en-US" b="0" dirty="0">
                <a:latin typeface="Times New Roman"/>
                <a:cs typeface="Times New Roman"/>
              </a:rPr>
              <a:t>experiment allows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soldiers to train at home</a:t>
            </a:r>
            <a:r>
              <a:rPr lang="en-US" b="0" dirty="0">
                <a:latin typeface="Times New Roman"/>
                <a:cs typeface="Times New Roman"/>
              </a:rPr>
              <a:t> to prepare for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small</a:t>
            </a:r>
            <a:r>
              <a:rPr lang="en-US" b="0" dirty="0">
                <a:latin typeface="Times New Roman"/>
                <a:cs typeface="Times New Roman"/>
              </a:rPr>
              <a:t>, urban and borderless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conflicts</a:t>
            </a:r>
            <a:r>
              <a:rPr lang="en-US" b="0" dirty="0">
                <a:latin typeface="Times New Roman"/>
                <a:cs typeface="Times New Roman"/>
              </a:rPr>
              <a:t> around the world. Sarnoff's head-mounted visualization training system combines real world views, computer generated images and avatars. Soldiers interact in a realistic training environment with their own weapon, while interacting with computer-generated avatars. The avatar responds realistically to the soldier’s actions by talking, avoiding contact or returning fire. The soldier is able to record and replay training sessions. </a:t>
            </a:r>
          </a:p>
          <a:p>
            <a:pPr marL="0" indent="0">
              <a:buNone/>
            </a:pPr>
            <a:endParaRPr lang="en-US" dirty="0"/>
          </a:p>
        </p:txBody>
      </p:sp>
    </p:spTree>
    <p:extLst>
      <p:ext uri="{BB962C8B-B14F-4D97-AF65-F5344CB8AC3E}">
        <p14:creationId xmlns:p14="http://schemas.microsoft.com/office/powerpoint/2010/main" val="771035401"/>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9462" y="769481"/>
            <a:ext cx="7581901" cy="5066543"/>
          </a:xfrm>
        </p:spPr>
        <p:txBody>
          <a:bodyPr>
            <a:noAutofit/>
          </a:bodyPr>
          <a:lstStyle/>
          <a:p>
            <a:pPr marL="0" indent="0" algn="just">
              <a:lnSpc>
                <a:spcPct val="90000"/>
              </a:lnSpc>
              <a:buNone/>
            </a:pPr>
            <a:r>
              <a:rPr lang="en-US" sz="1800" dirty="0">
                <a:latin typeface="Times New Roman"/>
                <a:cs typeface="Times New Roman"/>
              </a:rPr>
              <a:t>The Military has also used AR to train users in maintenance and repair</a:t>
            </a:r>
            <a:r>
              <a:rPr lang="en-US" sz="1800" dirty="0" smtClean="0">
                <a:latin typeface="Times New Roman"/>
                <a:cs typeface="Times New Roman"/>
              </a:rPr>
              <a:t>. </a:t>
            </a:r>
          </a:p>
          <a:p>
            <a:pPr marL="0" indent="0" algn="just">
              <a:lnSpc>
                <a:spcPct val="90000"/>
              </a:lnSpc>
              <a:buNone/>
            </a:pPr>
            <a:r>
              <a:rPr lang="en-US" sz="1800" dirty="0" smtClean="0">
                <a:latin typeface="Times New Roman"/>
                <a:cs typeface="Times New Roman"/>
                <a:hlinkClick r:id="rId2"/>
              </a:rPr>
              <a:t>http://www.youtube.com/watch?v=mn-zvymlSvk</a:t>
            </a:r>
            <a:endParaRPr lang="en-US" sz="1800" dirty="0" smtClean="0">
              <a:latin typeface="Times New Roman"/>
              <a:cs typeface="Times New Roman"/>
            </a:endParaRPr>
          </a:p>
        </p:txBody>
      </p:sp>
      <p:sp>
        <p:nvSpPr>
          <p:cNvPr id="6" name="TextBox 5"/>
          <p:cNvSpPr txBox="1"/>
          <p:nvPr/>
        </p:nvSpPr>
        <p:spPr>
          <a:xfrm>
            <a:off x="892711" y="1848493"/>
            <a:ext cx="6990806" cy="3416320"/>
          </a:xfrm>
          <a:prstGeom prst="rect">
            <a:avLst/>
          </a:prstGeom>
          <a:noFill/>
        </p:spPr>
        <p:txBody>
          <a:bodyPr wrap="square" rtlCol="0">
            <a:spAutoFit/>
          </a:bodyPr>
          <a:lstStyle/>
          <a:p>
            <a:pPr algn="just"/>
            <a:r>
              <a:rPr lang="en-US" dirty="0">
                <a:latin typeface="Times New Roman"/>
                <a:cs typeface="Times New Roman"/>
              </a:rPr>
              <a:t>In March 2010, the US Army put out a request for information on "Augmented Reality (AR) Systems Technology </a:t>
            </a:r>
            <a:r>
              <a:rPr lang="en-US" dirty="0">
                <a:effectLst>
                  <a:glow rad="228600">
                    <a:schemeClr val="accent1">
                      <a:satMod val="175000"/>
                      <a:alpha val="40000"/>
                    </a:schemeClr>
                  </a:glow>
                </a:effectLst>
                <a:latin typeface="Times New Roman"/>
                <a:cs typeface="Times New Roman"/>
              </a:rPr>
              <a:t>Roadmap Survey Dismounted </a:t>
            </a:r>
            <a:r>
              <a:rPr lang="en-US" dirty="0">
                <a:latin typeface="Times New Roman"/>
                <a:cs typeface="Times New Roman"/>
              </a:rPr>
              <a:t>Soldier Applications." Their objective is </a:t>
            </a:r>
            <a:r>
              <a:rPr lang="en-US" dirty="0">
                <a:effectLst>
                  <a:glow rad="228600">
                    <a:schemeClr val="accent1">
                      <a:satMod val="175000"/>
                      <a:alpha val="40000"/>
                    </a:schemeClr>
                  </a:glow>
                </a:effectLst>
                <a:latin typeface="Times New Roman"/>
                <a:cs typeface="Times New Roman"/>
              </a:rPr>
              <a:t>to explore</a:t>
            </a:r>
            <a:r>
              <a:rPr lang="en-US" dirty="0">
                <a:latin typeface="Times New Roman"/>
                <a:cs typeface="Times New Roman"/>
              </a:rPr>
              <a:t>, "methods of presenting 2D/3D virtual objects (</a:t>
            </a:r>
            <a:r>
              <a:rPr lang="en-US" dirty="0">
                <a:effectLst>
                  <a:glow rad="228600">
                    <a:schemeClr val="accent1">
                      <a:satMod val="175000"/>
                      <a:alpha val="40000"/>
                    </a:schemeClr>
                  </a:glow>
                </a:effectLst>
                <a:latin typeface="Times New Roman"/>
                <a:cs typeface="Times New Roman"/>
              </a:rPr>
              <a:t>representing various types of targets</a:t>
            </a:r>
            <a:r>
              <a:rPr lang="en-US" dirty="0">
                <a:latin typeface="Times New Roman"/>
                <a:cs typeface="Times New Roman"/>
              </a:rPr>
              <a:t>, fire and effects, friendly forces and opposition forces, civilians on the battlefield (COB), vehicles, etc.) to the dismounted soldier </a:t>
            </a:r>
            <a:r>
              <a:rPr lang="en-US" dirty="0">
                <a:effectLst>
                  <a:glow rad="228600">
                    <a:schemeClr val="accent1">
                      <a:satMod val="175000"/>
                      <a:alpha val="40000"/>
                    </a:schemeClr>
                  </a:glow>
                </a:effectLst>
                <a:latin typeface="Times New Roman"/>
                <a:cs typeface="Times New Roman"/>
              </a:rPr>
              <a:t>while operating both indoors and outdoors</a:t>
            </a:r>
            <a:r>
              <a:rPr lang="en-US" dirty="0">
                <a:latin typeface="Times New Roman"/>
                <a:cs typeface="Times New Roman"/>
              </a:rPr>
              <a:t>, on various types of live training environments. Additionally, the trainee would be capable of interacting with virtual targets, personnel, vehicles, etc. as though real. The objective is to </a:t>
            </a:r>
            <a:r>
              <a:rPr lang="en-US" dirty="0">
                <a:effectLst>
                  <a:glow rad="228600">
                    <a:schemeClr val="accent1">
                      <a:satMod val="175000"/>
                      <a:alpha val="40000"/>
                    </a:schemeClr>
                  </a:glow>
                </a:effectLst>
                <a:latin typeface="Times New Roman"/>
                <a:cs typeface="Times New Roman"/>
              </a:rPr>
              <a:t>create an interactive, multi-sensory</a:t>
            </a:r>
            <a:r>
              <a:rPr lang="en-US" dirty="0">
                <a:latin typeface="Times New Roman"/>
                <a:cs typeface="Times New Roman"/>
              </a:rPr>
              <a:t>, non-linear environment that </a:t>
            </a:r>
            <a:r>
              <a:rPr lang="en-US" dirty="0">
                <a:effectLst>
                  <a:glow rad="228600">
                    <a:schemeClr val="accent1">
                      <a:satMod val="175000"/>
                      <a:alpha val="40000"/>
                    </a:schemeClr>
                  </a:glow>
                </a:effectLst>
                <a:latin typeface="Times New Roman"/>
                <a:cs typeface="Times New Roman"/>
              </a:rPr>
              <a:t>provides the Warfighter </a:t>
            </a:r>
            <a:r>
              <a:rPr lang="en-US" dirty="0">
                <a:latin typeface="Times New Roman"/>
                <a:cs typeface="Times New Roman"/>
              </a:rPr>
              <a:t>with training that is unparalleled in flexibility and realism.</a:t>
            </a:r>
            <a:endParaRPr lang="en-US" dirty="0">
              <a:latin typeface="Times New Roman"/>
              <a:cs typeface="Times New Roman"/>
            </a:endParaRPr>
          </a:p>
        </p:txBody>
      </p:sp>
    </p:spTree>
    <p:extLst>
      <p:ext uri="{BB962C8B-B14F-4D97-AF65-F5344CB8AC3E}">
        <p14:creationId xmlns:p14="http://schemas.microsoft.com/office/powerpoint/2010/main" val="2274935148"/>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2D908"/>
                </a:solidFill>
              </a:rPr>
              <a:t>AR Books</a:t>
            </a:r>
            <a:endParaRPr lang="en-US" dirty="0">
              <a:solidFill>
                <a:srgbClr val="F2D908"/>
              </a:solidFill>
            </a:endParaRPr>
          </a:p>
        </p:txBody>
      </p:sp>
      <p:sp>
        <p:nvSpPr>
          <p:cNvPr id="3" name="Content Placeholder 2"/>
          <p:cNvSpPr>
            <a:spLocks noGrp="1"/>
          </p:cNvSpPr>
          <p:nvPr>
            <p:ph idx="1"/>
          </p:nvPr>
        </p:nvSpPr>
        <p:spPr/>
        <p:txBody>
          <a:bodyPr/>
          <a:lstStyle/>
          <a:p>
            <a:pPr marL="0" indent="0" algn="just">
              <a:buNone/>
            </a:pPr>
            <a:r>
              <a:rPr lang="en-US" b="0" dirty="0" smtClean="0">
                <a:latin typeface="Times New Roman"/>
                <a:cs typeface="Times New Roman"/>
              </a:rPr>
              <a:t>An AR book looks like any other book, but when you place in front of a webcam 3d elements, sounds and movies appear. </a:t>
            </a:r>
          </a:p>
          <a:p>
            <a:pPr marL="0" indent="0" algn="just">
              <a:buNone/>
            </a:pPr>
            <a:r>
              <a:rPr lang="en-US" dirty="0" smtClean="0">
                <a:latin typeface="Times New Roman"/>
                <a:cs typeface="Times New Roman"/>
              </a:rPr>
              <a:t>Example:</a:t>
            </a:r>
          </a:p>
          <a:p>
            <a:pPr marL="0" indent="0" algn="just">
              <a:buNone/>
            </a:pPr>
            <a:r>
              <a:rPr lang="en-US" dirty="0">
                <a:latin typeface="Times New Roman"/>
                <a:cs typeface="Times New Roman"/>
                <a:hlinkClick r:id="rId2"/>
              </a:rPr>
              <a:t>http://www.youtube.com/watch?v=</a:t>
            </a:r>
            <a:r>
              <a:rPr lang="en-US" dirty="0" smtClean="0">
                <a:latin typeface="Times New Roman"/>
                <a:cs typeface="Times New Roman"/>
                <a:hlinkClick r:id="rId2"/>
              </a:rPr>
              <a:t>ukrDPyPPYnE</a:t>
            </a:r>
            <a:endParaRPr lang="en-US" dirty="0" smtClean="0">
              <a:latin typeface="Times New Roman"/>
              <a:cs typeface="Times New Roman"/>
            </a:endParaRPr>
          </a:p>
          <a:p>
            <a:pPr marL="0" indent="0">
              <a:buNone/>
            </a:pPr>
            <a:r>
              <a:rPr lang="en-US" dirty="0" smtClean="0">
                <a:hlinkClick r:id="rId3"/>
              </a:rPr>
              <a:t>http</a:t>
            </a:r>
            <a:r>
              <a:rPr lang="en-US" dirty="0">
                <a:hlinkClick r:id="rId3"/>
              </a:rPr>
              <a:t>://alpha.zooburst.com/index.php?viewbook=</a:t>
            </a:r>
            <a:r>
              <a:rPr lang="en-US" dirty="0" smtClean="0">
                <a:hlinkClick r:id="rId3"/>
              </a:rPr>
              <a:t>210</a:t>
            </a:r>
            <a:endParaRPr lang="en-US" dirty="0" smtClean="0"/>
          </a:p>
          <a:p>
            <a:pPr marL="0" indent="0">
              <a:buNone/>
            </a:pPr>
            <a:endParaRPr lang="en-US" dirty="0"/>
          </a:p>
        </p:txBody>
      </p:sp>
    </p:spTree>
    <p:extLst>
      <p:ext uri="{BB962C8B-B14F-4D97-AF65-F5344CB8AC3E}">
        <p14:creationId xmlns:p14="http://schemas.microsoft.com/office/powerpoint/2010/main" val="901261955"/>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2" y="107577"/>
            <a:ext cx="7581901" cy="848110"/>
          </a:xfrm>
        </p:spPr>
        <p:txBody>
          <a:bodyPr/>
          <a:lstStyle/>
          <a:p>
            <a:r>
              <a:rPr lang="en-US" dirty="0" smtClean="0">
                <a:solidFill>
                  <a:srgbClr val="F2D908"/>
                </a:solidFill>
              </a:rPr>
              <a:t>Medicine</a:t>
            </a:r>
            <a:endParaRPr lang="en-US" dirty="0">
              <a:solidFill>
                <a:srgbClr val="F2D908"/>
              </a:solidFill>
            </a:endParaRPr>
          </a:p>
        </p:txBody>
      </p:sp>
      <p:sp>
        <p:nvSpPr>
          <p:cNvPr id="3" name="Content Placeholder 2"/>
          <p:cNvSpPr>
            <a:spLocks noGrp="1"/>
          </p:cNvSpPr>
          <p:nvPr>
            <p:ph idx="1"/>
          </p:nvPr>
        </p:nvSpPr>
        <p:spPr>
          <a:xfrm>
            <a:off x="779462" y="1190962"/>
            <a:ext cx="7581901" cy="5410827"/>
          </a:xfrm>
        </p:spPr>
        <p:txBody>
          <a:bodyPr>
            <a:noAutofit/>
          </a:bodyPr>
          <a:lstStyle/>
          <a:p>
            <a:pPr marL="0" indent="0" algn="just">
              <a:buNone/>
            </a:pPr>
            <a:r>
              <a:rPr lang="en-US" sz="1800" dirty="0">
                <a:latin typeface="Times New Roman"/>
                <a:cs typeface="Times New Roman"/>
              </a:rPr>
              <a:t>In the field of medicine</a:t>
            </a:r>
            <a:r>
              <a:rPr lang="en-US" sz="1800" b="0" dirty="0">
                <a:latin typeface="Times New Roman"/>
                <a:cs typeface="Times New Roman"/>
              </a:rPr>
              <a:t>, augmented reality is being used to </a:t>
            </a:r>
            <a:r>
              <a:rPr lang="en-US" sz="1800"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enhance visualization</a:t>
            </a:r>
            <a:r>
              <a:rPr lang="en-US" sz="1800" b="0" dirty="0">
                <a:latin typeface="Times New Roman"/>
                <a:cs typeface="Times New Roman"/>
              </a:rPr>
              <a:t>, </a:t>
            </a:r>
            <a:r>
              <a:rPr lang="en-US" sz="1800"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plan operations</a:t>
            </a:r>
            <a:r>
              <a:rPr lang="en-US" sz="1800" b="0" dirty="0">
                <a:latin typeface="Times New Roman"/>
                <a:cs typeface="Times New Roman"/>
              </a:rPr>
              <a:t> and </a:t>
            </a:r>
            <a:r>
              <a:rPr lang="en-US" sz="1800"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train medical staff </a:t>
            </a:r>
            <a:r>
              <a:rPr lang="en-US" sz="1800" b="0" dirty="0">
                <a:latin typeface="Times New Roman"/>
                <a:cs typeface="Times New Roman"/>
              </a:rPr>
              <a:t>in various procedures. In the past, surgeons constantly had to look away from an operating site to compare what they saw with static graphic scans. Augmented reality during an operation allows a surgeon to </a:t>
            </a:r>
            <a:r>
              <a:rPr lang="en-US" sz="1800"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maintain a fixed view of a surgical </a:t>
            </a:r>
            <a:r>
              <a:rPr lang="en-US" sz="1800" b="0" dirty="0">
                <a:latin typeface="Times New Roman"/>
                <a:cs typeface="Times New Roman"/>
              </a:rPr>
              <a:t>site and have augmented graphic scans over their field of vision</a:t>
            </a:r>
            <a:r>
              <a:rPr lang="en-US" sz="1800" b="0" dirty="0" smtClean="0">
                <a:latin typeface="Times New Roman"/>
                <a:cs typeface="Times New Roman"/>
              </a:rPr>
              <a:t>.</a:t>
            </a:r>
          </a:p>
          <a:p>
            <a:pPr marL="0" indent="0" algn="just">
              <a:buNone/>
            </a:pPr>
            <a:r>
              <a:rPr lang="en-US" sz="1800" b="0" dirty="0" smtClean="0">
                <a:latin typeface="Times New Roman"/>
                <a:cs typeface="Times New Roman"/>
              </a:rPr>
              <a:t> </a:t>
            </a:r>
            <a:r>
              <a:rPr lang="en-US" sz="1800" b="0" dirty="0">
                <a:latin typeface="Times New Roman"/>
                <a:cs typeface="Times New Roman"/>
              </a:rPr>
              <a:t>In training situations, surgeons receive </a:t>
            </a:r>
            <a:r>
              <a:rPr lang="en-US" sz="1800"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training on simulators </a:t>
            </a:r>
            <a:r>
              <a:rPr lang="en-US" sz="1800" b="0" dirty="0">
                <a:latin typeface="Times New Roman"/>
                <a:cs typeface="Times New Roman"/>
              </a:rPr>
              <a:t>that allow them to train and gain experience in a realistic AR operating room without risk to actual patients. AR allows learners to practice a process and get feedback during training. </a:t>
            </a:r>
            <a:r>
              <a:rPr lang="en-US" sz="1800" dirty="0" err="1">
                <a:latin typeface="Times New Roman"/>
                <a:cs typeface="Times New Roman"/>
              </a:rPr>
              <a:t>Sanne</a:t>
            </a:r>
            <a:r>
              <a:rPr lang="en-US" sz="1800" dirty="0">
                <a:latin typeface="Times New Roman"/>
                <a:cs typeface="Times New Roman"/>
              </a:rPr>
              <a:t> </a:t>
            </a:r>
            <a:r>
              <a:rPr lang="en-US" sz="1800" dirty="0" err="1">
                <a:latin typeface="Times New Roman"/>
                <a:cs typeface="Times New Roman"/>
              </a:rPr>
              <a:t>Botden</a:t>
            </a:r>
            <a:r>
              <a:rPr lang="en-US" sz="1800" b="0" dirty="0">
                <a:latin typeface="Times New Roman"/>
                <a:cs typeface="Times New Roman"/>
              </a:rPr>
              <a:t>, a doctor and researcher from Eindhoven, Netherlands compared the performance of augmented reality and virtual reality surgical simulators to train doctors in laparoscopic surgery. She and her researchers made adjustments to their Augmented Reality simulator to provide on screen instructions and an opportunity to practice the process </a:t>
            </a:r>
            <a:r>
              <a:rPr lang="en-US" sz="1800"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using real tissue, stitching material and instruments</a:t>
            </a:r>
            <a:r>
              <a:rPr lang="en-US" sz="1800" b="0" dirty="0">
                <a:latin typeface="Times New Roman"/>
                <a:cs typeface="Times New Roman"/>
              </a:rPr>
              <a:t>. The users were provided feedback on their skills. The virtual reality simulator did not mimic the surgery like the AR simulator and the instruments did not behave the same way as they would in real life. Using the AR simulator, participants learned the procedure in only eight sessions</a:t>
            </a:r>
            <a:r>
              <a:rPr lang="en-US" sz="1800" b="0" dirty="0" smtClean="0">
                <a:latin typeface="Times New Roman"/>
                <a:cs typeface="Times New Roman"/>
              </a:rPr>
              <a:t>.</a:t>
            </a:r>
            <a:endParaRPr lang="en-US" sz="1800" dirty="0">
              <a:latin typeface="Times New Roman"/>
              <a:cs typeface="Times New Roman"/>
            </a:endParaRPr>
          </a:p>
        </p:txBody>
      </p:sp>
    </p:spTree>
    <p:extLst>
      <p:ext uri="{BB962C8B-B14F-4D97-AF65-F5344CB8AC3E}">
        <p14:creationId xmlns:p14="http://schemas.microsoft.com/office/powerpoint/2010/main" val="842964553"/>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2" y="51306"/>
            <a:ext cx="7581901" cy="496163"/>
          </a:xfrm>
        </p:spPr>
        <p:txBody>
          <a:bodyPr/>
          <a:lstStyle/>
          <a:p>
            <a:r>
              <a:rPr lang="en-US" dirty="0" smtClean="0">
                <a:solidFill>
                  <a:srgbClr val="F2D908"/>
                </a:solidFill>
              </a:rPr>
              <a:t>Modeling</a:t>
            </a:r>
            <a:endParaRPr lang="en-US" dirty="0">
              <a:solidFill>
                <a:srgbClr val="F2D908"/>
              </a:solidFill>
            </a:endParaRPr>
          </a:p>
        </p:txBody>
      </p:sp>
      <p:sp>
        <p:nvSpPr>
          <p:cNvPr id="3" name="Content Placeholder 2"/>
          <p:cNvSpPr>
            <a:spLocks noGrp="1"/>
          </p:cNvSpPr>
          <p:nvPr>
            <p:ph idx="1"/>
          </p:nvPr>
        </p:nvSpPr>
        <p:spPr>
          <a:xfrm>
            <a:off x="779462" y="834826"/>
            <a:ext cx="7581901" cy="3953436"/>
          </a:xfrm>
        </p:spPr>
        <p:txBody>
          <a:bodyPr>
            <a:normAutofit fontScale="92500"/>
          </a:bodyPr>
          <a:lstStyle/>
          <a:p>
            <a:pPr marL="0" indent="0" algn="just">
              <a:buNone/>
            </a:pPr>
            <a:r>
              <a:rPr lang="en-US" b="0" dirty="0" smtClean="0">
                <a:latin typeface="Times New Roman"/>
                <a:cs typeface="Times New Roman"/>
              </a:rPr>
              <a:t>Modeling </a:t>
            </a:r>
            <a:r>
              <a:rPr lang="en-US" b="0" dirty="0">
                <a:latin typeface="Times New Roman"/>
                <a:cs typeface="Times New Roman"/>
              </a:rPr>
              <a:t>objects is the first thing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required to create simulations </a:t>
            </a:r>
            <a:r>
              <a:rPr lang="en-US" b="0" dirty="0">
                <a:latin typeface="Times New Roman"/>
                <a:cs typeface="Times New Roman"/>
              </a:rPr>
              <a:t>of the human anatomy. Initially, the main problem is of identifying the various objects in a given set of data. Once these are identified, simulating </a:t>
            </a:r>
            <a:r>
              <a:rPr lang="en-US" b="0" dirty="0" smtClean="0">
                <a:latin typeface="Times New Roman"/>
                <a:cs typeface="Times New Roman"/>
              </a:rPr>
              <a:t>behaviors </a:t>
            </a:r>
            <a:r>
              <a:rPr lang="en-US" b="0" dirty="0">
                <a:latin typeface="Times New Roman"/>
                <a:cs typeface="Times New Roman"/>
              </a:rPr>
              <a:t>is possible, along with other tasks are possible such as rendering an object transparent or rotating an object. Further still, it is possible to simulate </a:t>
            </a:r>
            <a:r>
              <a:rPr lang="en-US" b="0" dirty="0" smtClean="0">
                <a:latin typeface="Times New Roman"/>
                <a:cs typeface="Times New Roman"/>
              </a:rPr>
              <a:t>behavior </a:t>
            </a:r>
            <a:r>
              <a:rPr lang="en-US" b="0" dirty="0">
                <a:latin typeface="Times New Roman"/>
                <a:cs typeface="Times New Roman"/>
              </a:rPr>
              <a:t>when pressure is applied in certain ways.		</a:t>
            </a:r>
          </a:p>
          <a:p>
            <a:pPr marL="0" indent="0" algn="just">
              <a:buNone/>
            </a:pPr>
            <a:r>
              <a:rPr lang="en-US" b="0" dirty="0">
                <a:latin typeface="Times New Roman"/>
                <a:cs typeface="Times New Roman"/>
              </a:rPr>
              <a:t>A major advantage of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behavior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simulation </a:t>
            </a:r>
            <a:r>
              <a:rPr lang="en-US" b="0" dirty="0">
                <a:latin typeface="Times New Roman"/>
                <a:cs typeface="Times New Roman"/>
              </a:rPr>
              <a:t>is that it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allows the user to predict the outcome of a certain procedure</a:t>
            </a:r>
            <a:r>
              <a:rPr lang="en-US" b="0" dirty="0">
                <a:latin typeface="Times New Roman"/>
                <a:cs typeface="Times New Roman"/>
              </a:rPr>
              <a:t>. An example of this application is plastic surgery.</a:t>
            </a:r>
            <a:endParaRPr lang="en-US" b="0" dirty="0">
              <a:latin typeface="Times New Roman"/>
              <a:cs typeface="Times New Roman"/>
            </a:endParaRPr>
          </a:p>
        </p:txBody>
      </p:sp>
      <p:pic>
        <p:nvPicPr>
          <p:cNvPr id="4" name="Picture 3" descr="Screen Shot 2013-10-07 at 12.07.56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341" y="4509304"/>
            <a:ext cx="6588121" cy="1738532"/>
          </a:xfrm>
          <a:prstGeom prst="rect">
            <a:avLst/>
          </a:prstGeom>
        </p:spPr>
      </p:pic>
      <p:sp>
        <p:nvSpPr>
          <p:cNvPr id="5" name="TextBox 4"/>
          <p:cNvSpPr txBox="1"/>
          <p:nvPr/>
        </p:nvSpPr>
        <p:spPr>
          <a:xfrm>
            <a:off x="3252946" y="6260664"/>
            <a:ext cx="4995516" cy="646331"/>
          </a:xfrm>
          <a:prstGeom prst="rect">
            <a:avLst/>
          </a:prstGeom>
          <a:noFill/>
        </p:spPr>
        <p:txBody>
          <a:bodyPr wrap="none" rtlCol="0">
            <a:spAutoFit/>
          </a:bodyPr>
          <a:lstStyle/>
          <a:p>
            <a:r>
              <a:rPr lang="en-US" dirty="0" smtClean="0">
                <a:hlinkClick r:id="rId3"/>
              </a:rPr>
              <a:t>http://www.youtube.com/watch?v=uVDxMr-47kU</a:t>
            </a:r>
            <a:endParaRPr lang="en-US" dirty="0" smtClean="0"/>
          </a:p>
          <a:p>
            <a:endParaRPr lang="en-US" dirty="0"/>
          </a:p>
        </p:txBody>
      </p:sp>
    </p:spTree>
    <p:extLst>
      <p:ext uri="{BB962C8B-B14F-4D97-AF65-F5344CB8AC3E}">
        <p14:creationId xmlns:p14="http://schemas.microsoft.com/office/powerpoint/2010/main" val="1559316693"/>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2" y="57277"/>
            <a:ext cx="7581901" cy="957636"/>
          </a:xfrm>
        </p:spPr>
        <p:txBody>
          <a:bodyPr/>
          <a:lstStyle/>
          <a:p>
            <a:r>
              <a:rPr lang="en-US" dirty="0" smtClean="0">
                <a:solidFill>
                  <a:srgbClr val="F2D908"/>
                </a:solidFill>
                <a:latin typeface="Times New Roman"/>
                <a:cs typeface="Times New Roman"/>
              </a:rPr>
              <a:t>Architecture</a:t>
            </a:r>
            <a:endParaRPr lang="en-US" dirty="0">
              <a:solidFill>
                <a:srgbClr val="F2D908"/>
              </a:solidFill>
              <a:latin typeface="Times New Roman"/>
              <a:cs typeface="Times New Roman"/>
            </a:endParaRPr>
          </a:p>
        </p:txBody>
      </p:sp>
      <p:sp>
        <p:nvSpPr>
          <p:cNvPr id="3" name="Content Placeholder 2"/>
          <p:cNvSpPr>
            <a:spLocks noGrp="1"/>
          </p:cNvSpPr>
          <p:nvPr>
            <p:ph idx="1"/>
          </p:nvPr>
        </p:nvSpPr>
        <p:spPr>
          <a:xfrm>
            <a:off x="515509" y="625087"/>
            <a:ext cx="8122412" cy="5687480"/>
          </a:xfrm>
        </p:spPr>
        <p:txBody>
          <a:bodyPr>
            <a:normAutofit fontScale="92500" lnSpcReduction="20000"/>
          </a:bodyPr>
          <a:lstStyle/>
          <a:p>
            <a:endParaRPr lang="en-US" b="0" dirty="0"/>
          </a:p>
          <a:p>
            <a:pPr marL="0" indent="0" algn="just">
              <a:buNone/>
            </a:pPr>
            <a:r>
              <a:rPr lang="en-US" b="0" dirty="0">
                <a:latin typeface="Times New Roman"/>
                <a:cs typeface="Times New Roman"/>
              </a:rPr>
              <a:t> Augmented Reality (AR) is a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system for blending virtual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models with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real life settings</a:t>
            </a:r>
            <a:r>
              <a:rPr lang="en-US" b="0" dirty="0">
                <a:latin typeface="Times New Roman"/>
                <a:cs typeface="Times New Roman"/>
              </a:rPr>
              <a:t>, thus making it possible to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experience</a:t>
            </a:r>
            <a:r>
              <a:rPr lang="en-US" b="0" dirty="0">
                <a:latin typeface="Times New Roman"/>
                <a:cs typeface="Times New Roman"/>
              </a:rPr>
              <a:t> proposed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architectural solutions </a:t>
            </a:r>
            <a:r>
              <a:rPr lang="en-US" b="0" dirty="0">
                <a:latin typeface="Times New Roman"/>
                <a:cs typeface="Times New Roman"/>
              </a:rPr>
              <a:t>in full scale at the intended site. </a:t>
            </a:r>
          </a:p>
          <a:p>
            <a:pPr marL="0" indent="0" algn="just">
              <a:buNone/>
            </a:pPr>
            <a:r>
              <a:rPr lang="en-US" b="0" dirty="0">
                <a:latin typeface="Times New Roman"/>
                <a:cs typeface="Times New Roman"/>
              </a:rPr>
              <a:t>The author argues that this technology will have a significant </a:t>
            </a:r>
            <a:r>
              <a:rPr lang="en-US" b="0" dirty="0" smtClean="0">
                <a:latin typeface="Times New Roman"/>
                <a:cs typeface="Times New Roman"/>
              </a:rPr>
              <a:t>impact </a:t>
            </a:r>
            <a:r>
              <a:rPr lang="en-US" b="0" dirty="0">
                <a:latin typeface="Times New Roman"/>
                <a:cs typeface="Times New Roman"/>
              </a:rPr>
              <a:t>on, and applicability for, the architectural design process and the mediating of architectural projects</a:t>
            </a:r>
            <a:r>
              <a:rPr lang="en-US" b="0" dirty="0" smtClean="0">
                <a:latin typeface="Times New Roman"/>
                <a:cs typeface="Times New Roman"/>
              </a:rPr>
              <a:t>.</a:t>
            </a:r>
          </a:p>
          <a:p>
            <a:pPr marL="0" indent="0" algn="just">
              <a:buNone/>
            </a:pPr>
            <a:r>
              <a:rPr lang="en-US" b="0" dirty="0">
                <a:latin typeface="Times New Roman"/>
                <a:cs typeface="Times New Roman"/>
              </a:rPr>
              <a:t>The use of Virtual Reality has added a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new dimension to presentations of planned structures </a:t>
            </a:r>
            <a:r>
              <a:rPr lang="en-US" b="0" dirty="0">
                <a:latin typeface="Times New Roman"/>
                <a:cs typeface="Times New Roman"/>
              </a:rPr>
              <a:t>and in many instances proven valuable for the understanding of projects. In a complete VR system all parts of a scene have to be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digitally constructed</a:t>
            </a:r>
            <a:r>
              <a:rPr lang="en-US" b="0" dirty="0">
                <a:latin typeface="Times New Roman"/>
                <a:cs typeface="Times New Roman"/>
              </a:rPr>
              <a:t>, which requires extensive work for the making of the model and highly specified and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expensive hardware</a:t>
            </a:r>
            <a:r>
              <a:rPr lang="en-US" b="0" dirty="0">
                <a:latin typeface="Times New Roman"/>
                <a:cs typeface="Times New Roman"/>
              </a:rPr>
              <a:t> for the regeneration of them. Screen based VR presentations can easily be distributed but as with an immersive system, orientation is not intuitive,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the feeling of presence is hard to achieve </a:t>
            </a:r>
            <a:r>
              <a:rPr lang="en-US" b="0" dirty="0">
                <a:latin typeface="Times New Roman"/>
                <a:cs typeface="Times New Roman"/>
              </a:rPr>
              <a:t>and the problem of understanding scale is still not solved. That is, even though one moves through digital models that closely resemble a reality, they are experienced as scale models. </a:t>
            </a:r>
            <a:endParaRPr lang="en-US" dirty="0">
              <a:latin typeface="Times New Roman"/>
              <a:cs typeface="Times New Roman"/>
            </a:endParaRPr>
          </a:p>
        </p:txBody>
      </p:sp>
    </p:spTree>
    <p:extLst>
      <p:ext uri="{BB962C8B-B14F-4D97-AF65-F5344CB8AC3E}">
        <p14:creationId xmlns:p14="http://schemas.microsoft.com/office/powerpoint/2010/main" val="2014789763"/>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5216" y="197560"/>
            <a:ext cx="8197852" cy="6253330"/>
          </a:xfrm>
        </p:spPr>
        <p:txBody>
          <a:bodyPr>
            <a:normAutofit fontScale="92500" lnSpcReduction="10000"/>
          </a:bodyPr>
          <a:lstStyle/>
          <a:p>
            <a:pPr marL="0" indent="0" algn="just">
              <a:buNone/>
            </a:pPr>
            <a:r>
              <a:rPr lang="en-US" b="0" dirty="0">
                <a:latin typeface="Times New Roman"/>
                <a:cs typeface="Times New Roman"/>
              </a:rPr>
              <a:t>Augmented Reality, AR, is a further development of the technology and is understood as a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combination of digital models </a:t>
            </a:r>
            <a:r>
              <a:rPr lang="en-US" b="0" dirty="0">
                <a:latin typeface="Times New Roman"/>
                <a:cs typeface="Times New Roman"/>
              </a:rPr>
              <a:t>and the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physical world</a:t>
            </a:r>
            <a:r>
              <a:rPr lang="en-US" b="0" dirty="0">
                <a:latin typeface="Times New Roman"/>
                <a:cs typeface="Times New Roman"/>
              </a:rPr>
              <a:t>. </a:t>
            </a:r>
          </a:p>
          <a:p>
            <a:pPr marL="0" indent="0" algn="just">
              <a:buNone/>
            </a:pPr>
            <a:r>
              <a:rPr lang="en-US" b="0" dirty="0">
                <a:latin typeface="Times New Roman"/>
                <a:cs typeface="Times New Roman"/>
              </a:rPr>
              <a:t>An AR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system generates a composite</a:t>
            </a:r>
            <a:r>
              <a:rPr lang="en-US" b="0" dirty="0">
                <a:latin typeface="Times New Roman"/>
                <a:cs typeface="Times New Roman"/>
              </a:rPr>
              <a:t>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view</a:t>
            </a:r>
            <a:r>
              <a:rPr lang="en-US" b="0" dirty="0">
                <a:latin typeface="Times New Roman"/>
                <a:cs typeface="Times New Roman"/>
              </a:rPr>
              <a:t> with a combination of a virtual model or scene and the physical, real life setting in which the viewer is located. The technology has until recently been expensive, resource demanding and requiring advanced knowledge in the field. Due to these factors the use has been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limited mainly to military, medical research </a:t>
            </a:r>
            <a:r>
              <a:rPr lang="en-US" b="0" dirty="0">
                <a:effectLst>
                  <a:outerShdw blurRad="101600" dist="63500" dir="2700000" algn="tl" rotWithShape="0">
                    <a:prstClr val="black">
                      <a:alpha val="75000"/>
                    </a:prstClr>
                  </a:outerShdw>
                </a:effectLst>
                <a:latin typeface="Times New Roman"/>
                <a:cs typeface="Times New Roman"/>
              </a:rPr>
              <a:t>and other highly </a:t>
            </a:r>
            <a:r>
              <a:rPr lang="en-US" b="0" dirty="0" smtClean="0">
                <a:effectLst>
                  <a:outerShdw blurRad="101600" dist="63500" dir="2700000" algn="tl" rotWithShape="0">
                    <a:prstClr val="black">
                      <a:alpha val="75000"/>
                    </a:prstClr>
                  </a:outerShdw>
                </a:effectLst>
                <a:latin typeface="Times New Roman"/>
                <a:cs typeface="Times New Roman"/>
              </a:rPr>
              <a:t>specialized </a:t>
            </a:r>
            <a:r>
              <a:rPr lang="en-US" b="0" dirty="0">
                <a:effectLst>
                  <a:outerShdw blurRad="101600" dist="63500" dir="2700000" algn="tl" rotWithShape="0">
                    <a:prstClr val="black">
                      <a:alpha val="75000"/>
                    </a:prstClr>
                  </a:outerShdw>
                </a:effectLst>
                <a:latin typeface="Times New Roman"/>
                <a:cs typeface="Times New Roman"/>
              </a:rPr>
              <a:t>applications </a:t>
            </a:r>
            <a:r>
              <a:rPr lang="en-US" b="0" dirty="0" smtClean="0">
                <a:effectLst>
                  <a:outerShdw blurRad="101600" dist="63500" dir="2700000" algn="tl" rotWithShape="0">
                    <a:prstClr val="black">
                      <a:alpha val="75000"/>
                    </a:prstClr>
                  </a:outerShdw>
                </a:effectLst>
                <a:latin typeface="Times New Roman"/>
                <a:cs typeface="Times New Roman"/>
              </a:rPr>
              <a:t>.</a:t>
            </a:r>
          </a:p>
          <a:p>
            <a:pPr marL="0" indent="0">
              <a:buNone/>
            </a:pPr>
            <a:r>
              <a:rPr lang="en-US" b="0" dirty="0">
                <a:latin typeface="Times New Roman"/>
                <a:cs typeface="Times New Roman"/>
              </a:rPr>
              <a:t>An Augmented Reality system consists in principle of these main components:</a:t>
            </a:r>
          </a:p>
          <a:p>
            <a:pPr marL="0" indent="0">
              <a:buNone/>
            </a:pPr>
            <a:r>
              <a:rPr lang="en-US" b="0" dirty="0">
                <a:latin typeface="Times New Roman"/>
                <a:cs typeface="Times New Roman"/>
              </a:rPr>
              <a:t>1. Software System and Databases</a:t>
            </a:r>
          </a:p>
          <a:p>
            <a:pPr marL="0" indent="0">
              <a:buNone/>
            </a:pPr>
            <a:r>
              <a:rPr lang="en-US" b="0" dirty="0">
                <a:latin typeface="Times New Roman"/>
                <a:cs typeface="Times New Roman"/>
              </a:rPr>
              <a:t>2. Position-registration System</a:t>
            </a:r>
          </a:p>
          <a:p>
            <a:pPr marL="0" indent="0">
              <a:buNone/>
            </a:pPr>
            <a:r>
              <a:rPr lang="en-US" b="0" dirty="0">
                <a:latin typeface="Times New Roman"/>
                <a:cs typeface="Times New Roman"/>
              </a:rPr>
              <a:t>3. Orientation-registration System</a:t>
            </a:r>
          </a:p>
          <a:p>
            <a:pPr marL="0" indent="0">
              <a:buNone/>
            </a:pPr>
            <a:r>
              <a:rPr lang="en-US" b="0" dirty="0">
                <a:latin typeface="Times New Roman"/>
                <a:cs typeface="Times New Roman"/>
              </a:rPr>
              <a:t>4. Display Device</a:t>
            </a:r>
            <a:endParaRPr lang="en-US" b="0" dirty="0">
              <a:effectLst>
                <a:outerShdw blurRad="101600" dist="63500" dir="2700000" algn="tl" rotWithShape="0">
                  <a:prstClr val="black">
                    <a:alpha val="75000"/>
                  </a:prstClr>
                </a:outerShdw>
              </a:effectLst>
              <a:latin typeface="Times New Roman"/>
              <a:cs typeface="Times New Roman"/>
            </a:endParaRPr>
          </a:p>
        </p:txBody>
      </p:sp>
    </p:spTree>
    <p:extLst>
      <p:ext uri="{BB962C8B-B14F-4D97-AF65-F5344CB8AC3E}">
        <p14:creationId xmlns:p14="http://schemas.microsoft.com/office/powerpoint/2010/main" val="1879536011"/>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9462" y="163473"/>
            <a:ext cx="7581901" cy="6501189"/>
          </a:xfrm>
        </p:spPr>
        <p:txBody>
          <a:bodyPr/>
          <a:lstStyle/>
          <a:p>
            <a:pPr marL="0" indent="0" algn="just">
              <a:buNone/>
            </a:pPr>
            <a:r>
              <a:rPr lang="en-US" i="1" dirty="0" smtClean="0">
                <a:solidFill>
                  <a:srgbClr val="F2D908"/>
                </a:solidFill>
                <a:latin typeface="Times New Roman"/>
                <a:cs typeface="Times New Roman"/>
              </a:rPr>
              <a:t>Software </a:t>
            </a:r>
            <a:r>
              <a:rPr lang="en-US" i="1" dirty="0">
                <a:solidFill>
                  <a:srgbClr val="F2D908"/>
                </a:solidFill>
                <a:latin typeface="Times New Roman"/>
                <a:cs typeface="Times New Roman"/>
              </a:rPr>
              <a:t>System and Databases</a:t>
            </a:r>
            <a:endParaRPr lang="en-US" dirty="0">
              <a:solidFill>
                <a:srgbClr val="F2D908"/>
              </a:solidFill>
              <a:latin typeface="Times New Roman"/>
              <a:cs typeface="Times New Roman"/>
            </a:endParaRPr>
          </a:p>
          <a:p>
            <a:pPr marL="0" indent="0" algn="just">
              <a:buNone/>
            </a:pPr>
            <a:r>
              <a:rPr lang="en-US" b="0" dirty="0" smtClean="0">
                <a:latin typeface="Times New Roman"/>
                <a:cs typeface="Times New Roman"/>
              </a:rPr>
              <a:t>The core of the augmented reality system is the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software and database running on a portable computer</a:t>
            </a:r>
            <a:r>
              <a:rPr lang="en-US" b="0" dirty="0" smtClean="0">
                <a:latin typeface="Times New Roman"/>
                <a:cs typeface="Times New Roman"/>
              </a:rPr>
              <a:t>. The database contains the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3D models </a:t>
            </a:r>
            <a:r>
              <a:rPr lang="en-US" b="0" dirty="0" smtClean="0">
                <a:latin typeface="Times New Roman"/>
                <a:cs typeface="Times New Roman"/>
              </a:rPr>
              <a:t>to be viewed and their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geo-location</a:t>
            </a:r>
            <a:r>
              <a:rPr lang="en-US" b="0" dirty="0" smtClean="0">
                <a:latin typeface="Times New Roman"/>
                <a:cs typeface="Times New Roman"/>
              </a:rPr>
              <a:t>. The software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position </a:t>
            </a:r>
            <a:r>
              <a:rPr lang="en-US" b="0" dirty="0" smtClean="0">
                <a:latin typeface="Times New Roman"/>
                <a:cs typeface="Times New Roman"/>
              </a:rPr>
              <a:t>these according to the data retrieved from the registration systems.</a:t>
            </a:r>
          </a:p>
          <a:p>
            <a:pPr marL="0" indent="0" algn="just">
              <a:buNone/>
            </a:pPr>
            <a:r>
              <a:rPr lang="en-US" i="1" dirty="0" smtClean="0">
                <a:solidFill>
                  <a:srgbClr val="F2D908"/>
                </a:solidFill>
                <a:latin typeface="Times New Roman"/>
                <a:cs typeface="Times New Roman"/>
              </a:rPr>
              <a:t>Position</a:t>
            </a:r>
            <a:r>
              <a:rPr lang="en-US" i="1" dirty="0">
                <a:solidFill>
                  <a:srgbClr val="F2D908"/>
                </a:solidFill>
                <a:latin typeface="Times New Roman"/>
                <a:cs typeface="Times New Roman"/>
              </a:rPr>
              <a:t>-registration System</a:t>
            </a:r>
            <a:endParaRPr lang="en-US" b="0" dirty="0">
              <a:solidFill>
                <a:srgbClr val="F2D908"/>
              </a:solidFill>
              <a:latin typeface="Times New Roman"/>
              <a:cs typeface="Times New Roman"/>
            </a:endParaRPr>
          </a:p>
          <a:p>
            <a:pPr marL="0" indent="0" algn="just">
              <a:buNone/>
            </a:pPr>
            <a:r>
              <a:rPr lang="en-US" b="0" dirty="0">
                <a:latin typeface="Times New Roman"/>
                <a:cs typeface="Times New Roman"/>
              </a:rPr>
              <a:t>The position-registration system is crucial to the accuracy and field of use of the AR system. Its purpose is to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provide the system with the exact geo-location</a:t>
            </a:r>
            <a:r>
              <a:rPr lang="en-US" b="0" dirty="0">
                <a:latin typeface="Times New Roman"/>
                <a:cs typeface="Times New Roman"/>
              </a:rPr>
              <a:t>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of the user </a:t>
            </a:r>
            <a:r>
              <a:rPr lang="en-US" b="0" dirty="0">
                <a:latin typeface="Times New Roman"/>
                <a:cs typeface="Times New Roman"/>
              </a:rPr>
              <a:t>so the virtual models can be positioned correctly according to this. Several different solutions exist, each with specific possibilities and limitations</a:t>
            </a:r>
            <a:r>
              <a:rPr lang="en-US" b="0" dirty="0"/>
              <a:t>. </a:t>
            </a:r>
            <a:endParaRPr lang="en-US" b="0" dirty="0">
              <a:latin typeface="Times New Roman"/>
              <a:cs typeface="Times New Roman"/>
            </a:endParaRPr>
          </a:p>
        </p:txBody>
      </p:sp>
    </p:spTree>
    <p:extLst>
      <p:ext uri="{BB962C8B-B14F-4D97-AF65-F5344CB8AC3E}">
        <p14:creationId xmlns:p14="http://schemas.microsoft.com/office/powerpoint/2010/main" val="587278191"/>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9462" y="269317"/>
            <a:ext cx="7581901" cy="5904925"/>
          </a:xfrm>
        </p:spPr>
        <p:txBody>
          <a:bodyPr>
            <a:normAutofit/>
          </a:bodyPr>
          <a:lstStyle/>
          <a:p>
            <a:pPr marL="0" indent="0" algn="just">
              <a:buNone/>
            </a:pPr>
            <a:r>
              <a:rPr lang="en-US" i="1" dirty="0" smtClean="0">
                <a:solidFill>
                  <a:srgbClr val="F2D908"/>
                </a:solidFill>
                <a:latin typeface="Times New Roman"/>
                <a:cs typeface="Times New Roman"/>
              </a:rPr>
              <a:t>Orientation</a:t>
            </a:r>
            <a:r>
              <a:rPr lang="en-US" i="1" dirty="0">
                <a:solidFill>
                  <a:srgbClr val="F2D908"/>
                </a:solidFill>
                <a:latin typeface="Times New Roman"/>
                <a:cs typeface="Times New Roman"/>
              </a:rPr>
              <a:t>-registration System</a:t>
            </a:r>
            <a:endParaRPr lang="en-US" dirty="0">
              <a:solidFill>
                <a:srgbClr val="F2D908"/>
              </a:solidFill>
              <a:latin typeface="Times New Roman"/>
              <a:cs typeface="Times New Roman"/>
            </a:endParaRPr>
          </a:p>
          <a:p>
            <a:pPr marL="0" indent="0" algn="just">
              <a:buNone/>
            </a:pP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Precise and accurate combination </a:t>
            </a:r>
            <a:r>
              <a:rPr lang="en-US" b="0" dirty="0">
                <a:latin typeface="Times New Roman"/>
                <a:cs typeface="Times New Roman"/>
              </a:rPr>
              <a:t>of the virtual model and the real environment requires the system to provide data for the exact location and viewing direction and angle of the user</a:t>
            </a:r>
            <a:r>
              <a:rPr lang="en-US" b="0" dirty="0" smtClean="0">
                <a:latin typeface="Times New Roman"/>
                <a:cs typeface="Times New Roman"/>
              </a:rPr>
              <a:t>.</a:t>
            </a:r>
          </a:p>
          <a:p>
            <a:pPr marL="0" indent="0" algn="just">
              <a:buNone/>
            </a:pPr>
            <a:r>
              <a:rPr lang="en-US" i="1" dirty="0" smtClean="0">
                <a:solidFill>
                  <a:srgbClr val="F2D908"/>
                </a:solidFill>
                <a:latin typeface="Times New Roman"/>
                <a:cs typeface="Times New Roman"/>
              </a:rPr>
              <a:t> </a:t>
            </a:r>
            <a:r>
              <a:rPr lang="en-US" i="1" dirty="0">
                <a:solidFill>
                  <a:srgbClr val="F2D908"/>
                </a:solidFill>
                <a:latin typeface="Times New Roman"/>
                <a:cs typeface="Times New Roman"/>
              </a:rPr>
              <a:t>Display Device</a:t>
            </a:r>
            <a:endParaRPr lang="en-US" b="0" dirty="0">
              <a:solidFill>
                <a:srgbClr val="F2D908"/>
              </a:solidFill>
              <a:latin typeface="Times New Roman"/>
              <a:cs typeface="Times New Roman"/>
            </a:endParaRPr>
          </a:p>
          <a:p>
            <a:pPr marL="0" indent="0" algn="just">
              <a:buNone/>
            </a:pPr>
            <a:r>
              <a:rPr lang="en-US" b="0" dirty="0">
                <a:latin typeface="Times New Roman"/>
                <a:cs typeface="Times New Roman"/>
              </a:rPr>
              <a:t>The display device is for </a:t>
            </a:r>
            <a:r>
              <a:rPr lang="en-US" b="0" dirty="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viewing the Augmented Reality</a:t>
            </a:r>
            <a:r>
              <a:rPr lang="en-US" b="0" dirty="0">
                <a:latin typeface="Times New Roman"/>
                <a:cs typeface="Times New Roman"/>
              </a:rPr>
              <a:t>. According to the definition of AR by Ronald Azuma2 there are several ways of viewing AR </a:t>
            </a:r>
            <a:r>
              <a:rPr lang="en-US" b="0" dirty="0" smtClean="0">
                <a:latin typeface="Times New Roman"/>
                <a:cs typeface="Times New Roman"/>
              </a:rPr>
              <a:t>models.</a:t>
            </a:r>
            <a:endParaRPr lang="en-US" dirty="0">
              <a:latin typeface="Times New Roman"/>
              <a:cs typeface="Times New Roman"/>
            </a:endParaRPr>
          </a:p>
        </p:txBody>
      </p:sp>
    </p:spTree>
    <p:extLst>
      <p:ext uri="{BB962C8B-B14F-4D97-AF65-F5344CB8AC3E}">
        <p14:creationId xmlns:p14="http://schemas.microsoft.com/office/powerpoint/2010/main" val="2437051766"/>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2D908"/>
                </a:solidFill>
                <a:latin typeface="Times New Roman"/>
                <a:cs typeface="Times New Roman"/>
              </a:rPr>
              <a:t>Activities</a:t>
            </a:r>
            <a:endParaRPr lang="en-US" dirty="0">
              <a:solidFill>
                <a:srgbClr val="F2D908"/>
              </a:solidFill>
              <a:latin typeface="Times New Roman"/>
              <a:cs typeface="Times New Roman"/>
            </a:endParaRPr>
          </a:p>
        </p:txBody>
      </p:sp>
      <p:sp>
        <p:nvSpPr>
          <p:cNvPr id="3" name="Content Placeholder 2"/>
          <p:cNvSpPr>
            <a:spLocks noGrp="1"/>
          </p:cNvSpPr>
          <p:nvPr>
            <p:ph idx="1"/>
          </p:nvPr>
        </p:nvSpPr>
        <p:spPr/>
        <p:txBody>
          <a:bodyPr/>
          <a:lstStyle/>
          <a:p>
            <a:pPr marL="0" indent="0" algn="just">
              <a:buNone/>
            </a:pPr>
            <a:r>
              <a:rPr lang="en-US" b="0" dirty="0" smtClean="0">
                <a:latin typeface="Times New Roman"/>
                <a:cs typeface="Times New Roman"/>
              </a:rPr>
              <a:t>Augmented reality provides a rich environment for </a:t>
            </a:r>
            <a:r>
              <a:rPr lang="en-US" b="0" dirty="0" smtClean="0">
                <a:effectLst>
                  <a:glow rad="228600">
                    <a:schemeClr val="accent1">
                      <a:satMod val="175000"/>
                      <a:alpha val="40000"/>
                    </a:schemeClr>
                  </a:glow>
                  <a:outerShdw blurRad="101600" dist="63500" dir="2700000" algn="tl" rotWithShape="0">
                    <a:prstClr val="black">
                      <a:alpha val="75000"/>
                    </a:prstClr>
                  </a:outerShdw>
                </a:effectLst>
                <a:latin typeface="Times New Roman"/>
                <a:cs typeface="Times New Roman"/>
              </a:rPr>
              <a:t>discovery base learning</a:t>
            </a:r>
            <a:r>
              <a:rPr lang="en-US" b="0" dirty="0" smtClean="0">
                <a:latin typeface="Times New Roman"/>
                <a:cs typeface="Times New Roman"/>
              </a:rPr>
              <a:t>. </a:t>
            </a:r>
          </a:p>
          <a:p>
            <a:pPr marL="0" indent="0" algn="just">
              <a:buNone/>
            </a:pPr>
            <a:r>
              <a:rPr lang="en-US" b="0" dirty="0" smtClean="0">
                <a:latin typeface="Times New Roman"/>
                <a:cs typeface="Times New Roman"/>
              </a:rPr>
              <a:t>Today visiting store sites can access an AR app and find  out information about the location, for example how it looked at certain point in history.</a:t>
            </a:r>
          </a:p>
          <a:p>
            <a:pPr marL="0" indent="0">
              <a:buNone/>
            </a:pPr>
            <a:r>
              <a:rPr lang="en-US" dirty="0">
                <a:hlinkClick r:id="rId2"/>
              </a:rPr>
              <a:t>http://www.youtube.com/watch?v=XtJ1ZrPu-</a:t>
            </a:r>
            <a:r>
              <a:rPr lang="en-US" dirty="0" smtClean="0">
                <a:hlinkClick r:id="rId2"/>
              </a:rPr>
              <a:t>00</a:t>
            </a:r>
            <a:endParaRPr lang="en-US" dirty="0" smtClean="0"/>
          </a:p>
          <a:p>
            <a:pPr marL="0" indent="0">
              <a:buNone/>
            </a:pPr>
            <a:endParaRPr lang="en-US" dirty="0"/>
          </a:p>
        </p:txBody>
      </p:sp>
    </p:spTree>
    <p:extLst>
      <p:ext uri="{BB962C8B-B14F-4D97-AF65-F5344CB8AC3E}">
        <p14:creationId xmlns:p14="http://schemas.microsoft.com/office/powerpoint/2010/main" val="1443160357"/>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2D908"/>
                </a:solidFill>
                <a:latin typeface="Times New Roman"/>
                <a:cs typeface="Times New Roman"/>
              </a:rPr>
              <a:t>How Am I Using this information?</a:t>
            </a:r>
            <a:endParaRPr lang="en-US" dirty="0">
              <a:solidFill>
                <a:srgbClr val="F2D908"/>
              </a:solidFill>
              <a:latin typeface="Times New Roman"/>
              <a:cs typeface="Times New Roman"/>
            </a:endParaRPr>
          </a:p>
        </p:txBody>
      </p:sp>
      <p:sp>
        <p:nvSpPr>
          <p:cNvPr id="3" name="Content Placeholder 2"/>
          <p:cNvSpPr>
            <a:spLocks noGrp="1"/>
          </p:cNvSpPr>
          <p:nvPr>
            <p:ph idx="1"/>
          </p:nvPr>
        </p:nvSpPr>
        <p:spPr/>
        <p:txBody>
          <a:bodyPr/>
          <a:lstStyle/>
          <a:p>
            <a:pPr marL="0" indent="0" algn="just">
              <a:buNone/>
            </a:pPr>
            <a:r>
              <a:rPr lang="en-US" dirty="0" smtClean="0">
                <a:latin typeface="Times New Roman"/>
                <a:cs typeface="Times New Roman"/>
              </a:rPr>
              <a:t>To better explain this, I want you to see the following video. </a:t>
            </a:r>
            <a:endParaRPr lang="en-US" dirty="0">
              <a:latin typeface="Times New Roman"/>
              <a:cs typeface="Times New Roman"/>
            </a:endParaRPr>
          </a:p>
          <a:p>
            <a:pPr marL="0" indent="0" algn="just">
              <a:buNone/>
            </a:pPr>
            <a:r>
              <a:rPr lang="en-US" dirty="0" smtClean="0">
                <a:latin typeface="Times New Roman"/>
                <a:cs typeface="Times New Roman"/>
              </a:rPr>
              <a:t>Then, I will explain exactly how is it that I am planning to implement what I have learnt into the group project.</a:t>
            </a:r>
          </a:p>
          <a:p>
            <a:pPr marL="0" indent="0" algn="just">
              <a:buNone/>
            </a:pPr>
            <a:r>
              <a:rPr lang="en-US" dirty="0">
                <a:latin typeface="Times New Roman"/>
                <a:cs typeface="Times New Roman"/>
                <a:hlinkClick r:id="rId2"/>
              </a:rPr>
              <a:t>http://www.youtube.com/watch?v=</a:t>
            </a:r>
            <a:r>
              <a:rPr lang="en-US" dirty="0" smtClean="0">
                <a:latin typeface="Times New Roman"/>
                <a:cs typeface="Times New Roman"/>
                <a:hlinkClick r:id="rId2"/>
              </a:rPr>
              <a:t>iaaHcH9nQmI</a:t>
            </a:r>
            <a:endParaRPr lang="en-US" dirty="0" smtClean="0">
              <a:latin typeface="Times New Roman"/>
              <a:cs typeface="Times New Roman"/>
            </a:endParaRPr>
          </a:p>
          <a:p>
            <a:pPr marL="0" indent="0" algn="just">
              <a:buNone/>
            </a:pPr>
            <a:endParaRPr lang="en-US" dirty="0">
              <a:latin typeface="Times New Roman"/>
              <a:cs typeface="Times New Roman"/>
            </a:endParaRPr>
          </a:p>
        </p:txBody>
      </p:sp>
    </p:spTree>
    <p:extLst>
      <p:ext uri="{BB962C8B-B14F-4D97-AF65-F5344CB8AC3E}">
        <p14:creationId xmlns:p14="http://schemas.microsoft.com/office/powerpoint/2010/main" val="806031987"/>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2D908"/>
                </a:solidFill>
                <a:latin typeface="Times New Roman"/>
                <a:cs typeface="Times New Roman"/>
              </a:rPr>
              <a:t>Reference</a:t>
            </a:r>
            <a:endParaRPr lang="en-US" dirty="0">
              <a:solidFill>
                <a:srgbClr val="F2D908"/>
              </a:solidFill>
              <a:latin typeface="Times New Roman"/>
              <a:cs typeface="Times New Roman"/>
            </a:endParaRPr>
          </a:p>
        </p:txBody>
      </p:sp>
      <p:sp>
        <p:nvSpPr>
          <p:cNvPr id="3" name="Content Placeholder 2"/>
          <p:cNvSpPr>
            <a:spLocks noGrp="1"/>
          </p:cNvSpPr>
          <p:nvPr>
            <p:ph idx="1"/>
          </p:nvPr>
        </p:nvSpPr>
        <p:spPr/>
        <p:txBody>
          <a:bodyPr>
            <a:normAutofit/>
          </a:bodyPr>
          <a:lstStyle/>
          <a:p>
            <a:pPr marL="0" indent="0" algn="just">
              <a:buNone/>
            </a:pPr>
            <a:r>
              <a:rPr lang="en-US" b="0" dirty="0" smtClean="0">
                <a:effectLst/>
                <a:latin typeface="Times New Roman"/>
                <a:cs typeface="Times New Roman"/>
              </a:rPr>
              <a:t>Ernest </a:t>
            </a:r>
            <a:r>
              <a:rPr lang="en-US" b="0" dirty="0">
                <a:effectLst/>
                <a:latin typeface="Times New Roman"/>
                <a:cs typeface="Times New Roman"/>
              </a:rPr>
              <a:t>Redondo1, Isidro Navarro1, Albert Sanchez2, David Fonseca3. " Special Issue on Visual Interfaces and User Experience: new approaches." </a:t>
            </a:r>
            <a:r>
              <a:rPr lang="en-US" b="0" u="sng" dirty="0">
                <a:effectLst/>
                <a:latin typeface="Times New Roman"/>
                <a:cs typeface="Times New Roman"/>
              </a:rPr>
              <a:t>Augmented Reality On Architectural and Building Engineering Learning Processes.</a:t>
            </a:r>
            <a:r>
              <a:rPr lang="en-US" b="0" dirty="0">
                <a:effectLst/>
                <a:latin typeface="Times New Roman"/>
                <a:cs typeface="Times New Roman"/>
              </a:rPr>
              <a:t> (2013): 11.</a:t>
            </a:r>
          </a:p>
          <a:p>
            <a:pPr marL="0" indent="0" algn="just">
              <a:buNone/>
            </a:pPr>
            <a:r>
              <a:rPr lang="en-US" b="0" dirty="0">
                <a:effectLst/>
                <a:latin typeface="Times New Roman"/>
                <a:cs typeface="Times New Roman"/>
              </a:rPr>
              <a:t>Sorensen, </a:t>
            </a:r>
            <a:r>
              <a:rPr lang="en-US" b="0" dirty="0" err="1">
                <a:effectLst/>
                <a:latin typeface="Times New Roman"/>
                <a:cs typeface="Times New Roman"/>
              </a:rPr>
              <a:t>Soren</a:t>
            </a:r>
            <a:r>
              <a:rPr lang="en-US" b="0" dirty="0">
                <a:effectLst/>
                <a:latin typeface="Times New Roman"/>
                <a:cs typeface="Times New Roman"/>
              </a:rPr>
              <a:t> S. "Architects in the 21st Century - Agents of Change?" </a:t>
            </a:r>
            <a:r>
              <a:rPr lang="en-US" b="0" u="sng" dirty="0">
                <a:effectLst/>
                <a:latin typeface="Times New Roman"/>
                <a:cs typeface="Times New Roman"/>
              </a:rPr>
              <a:t>The development of Augmented Reality as a tool in </a:t>
            </a:r>
            <a:r>
              <a:rPr lang="en-US" b="0" u="sng" dirty="0" smtClean="0">
                <a:effectLst/>
                <a:latin typeface="Times New Roman"/>
                <a:cs typeface="Times New Roman"/>
              </a:rPr>
              <a:t>Architectural </a:t>
            </a:r>
            <a:r>
              <a:rPr lang="en-US" b="0" u="sng" dirty="0">
                <a:effectLst/>
                <a:latin typeface="Times New Roman"/>
                <a:cs typeface="Times New Roman"/>
              </a:rPr>
              <a:t>and Urban Design</a:t>
            </a:r>
            <a:r>
              <a:rPr lang="en-US" b="0" dirty="0">
                <a:effectLst/>
                <a:latin typeface="Times New Roman"/>
                <a:cs typeface="Times New Roman"/>
              </a:rPr>
              <a:t> 19 (2006): 8.</a:t>
            </a:r>
          </a:p>
          <a:p>
            <a:pPr marL="0" indent="0">
              <a:buNone/>
            </a:pPr>
            <a:endParaRPr lang="en-US" dirty="0">
              <a:effectLst/>
            </a:endParaRPr>
          </a:p>
          <a:p>
            <a:pPr marL="0" indent="0">
              <a:buNone/>
            </a:pPr>
            <a:endParaRPr lang="en-US" dirty="0" smtClean="0"/>
          </a:p>
        </p:txBody>
      </p:sp>
    </p:spTree>
    <p:extLst>
      <p:ext uri="{BB962C8B-B14F-4D97-AF65-F5344CB8AC3E}">
        <p14:creationId xmlns:p14="http://schemas.microsoft.com/office/powerpoint/2010/main" val="2083566470"/>
      </p:ext>
    </p:extLst>
  </p:cSld>
  <p:clrMapOvr>
    <a:masterClrMapping/>
  </p:clrMapOvr>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bit">
  <a:themeElements>
    <a:clrScheme name="Orbit">
      <a:dk1>
        <a:srgbClr val="000000"/>
      </a:dk1>
      <a:lt1>
        <a:srgbClr val="FFFFFF"/>
      </a:lt1>
      <a:dk2>
        <a:srgbClr val="7C9BA5"/>
      </a:dk2>
      <a:lt2>
        <a:srgbClr val="C1D0CA"/>
      </a:lt2>
      <a:accent1>
        <a:srgbClr val="F2D908"/>
      </a:accent1>
      <a:accent2>
        <a:srgbClr val="9DE61E"/>
      </a:accent2>
      <a:accent3>
        <a:srgbClr val="0D8BE6"/>
      </a:accent3>
      <a:accent4>
        <a:srgbClr val="C61B1B"/>
      </a:accent4>
      <a:accent5>
        <a:srgbClr val="E26F08"/>
      </a:accent5>
      <a:accent6>
        <a:srgbClr val="8D35D1"/>
      </a:accent6>
      <a:hlink>
        <a:srgbClr val="ECBF0B"/>
      </a:hlink>
      <a:folHlink>
        <a:srgbClr val="F4E5A8"/>
      </a:folHlink>
    </a:clrScheme>
    <a:fontScheme name="Orbit">
      <a:majorFont>
        <a:latin typeface="Candara"/>
        <a:ea typeface=""/>
        <a:cs typeface=""/>
        <a:font script="Jpan" typeface="ＭＳ Ｐゴシック"/>
        <a:font script="Hans" typeface="宋体"/>
        <a:font script="Hant" typeface="新細明體"/>
      </a:majorFont>
      <a:minorFont>
        <a:latin typeface="Candara"/>
        <a:ea typeface=""/>
        <a:cs typeface=""/>
        <a:font script="Jpan" typeface="ＭＳ Ｐゴシック"/>
        <a:font script="Hans" typeface="宋体"/>
        <a:font script="Hant" typeface="新細明體"/>
      </a:minorFont>
    </a:fontScheme>
    <a:fmtScheme name="Orbit">
      <a:fillStyleLst>
        <a:solidFill>
          <a:schemeClr val="phClr"/>
        </a:solidFill>
        <a:solidFill>
          <a:schemeClr val="phClr">
            <a:shade val="80000"/>
          </a:schemeClr>
        </a:solidFill>
        <a:gradFill rotWithShape="1">
          <a:gsLst>
            <a:gs pos="0">
              <a:schemeClr val="phClr">
                <a:shade val="30000"/>
                <a:satMod val="100000"/>
              </a:schemeClr>
            </a:gs>
            <a:gs pos="80000">
              <a:schemeClr val="phClr">
                <a:shade val="90000"/>
                <a:satMod val="100000"/>
              </a:schemeClr>
            </a:gs>
            <a:gs pos="100000">
              <a:schemeClr val="phClr">
                <a:tint val="90000"/>
                <a:shade val="100000"/>
                <a:satMod val="150000"/>
              </a:schemeClr>
            </a:gs>
          </a:gsLst>
          <a:lin ang="16200000" scaled="0"/>
        </a:gradFill>
      </a:fillStyleLst>
      <a:lnStyleLst>
        <a:ln w="12700" cap="flat" cmpd="sng" algn="ctr">
          <a:solidFill>
            <a:schemeClr val="phClr">
              <a:shade val="95000"/>
              <a:satMod val="105000"/>
            </a:schemeClr>
          </a:solidFill>
          <a:prstDash val="solid"/>
        </a:ln>
        <a:ln w="31750" cap="flat" cmpd="sng" algn="ctr">
          <a:solidFill>
            <a:schemeClr val="phClr">
              <a:shade val="90000"/>
            </a:schemeClr>
          </a:solidFill>
          <a:prstDash val="solid"/>
        </a:ln>
        <a:ln w="76200" cap="flat" cmpd="sng" algn="ctr">
          <a:solidFill>
            <a:schemeClr val="phClr"/>
          </a:solidFill>
          <a:prstDash val="solid"/>
        </a:ln>
      </a:lnStyleLst>
      <a:effectStyleLst>
        <a:effectStyle>
          <a:effectLst/>
        </a:effectStyle>
        <a:effectStyle>
          <a:effectLst>
            <a:outerShdw blurRad="228600" dist="38100" dir="5400000" sx="104000" sy="104000" algn="ctr" rotWithShape="0">
              <a:srgbClr val="000000">
                <a:alpha val="80000"/>
              </a:srgbClr>
            </a:outerShdw>
          </a:effectLst>
        </a:effectStyle>
        <a:effectStyle>
          <a:effectLst>
            <a:outerShdw blurRad="317500" dist="381000" dir="5400000" sx="90000" sy="20000" rotWithShape="0">
              <a:srgbClr val="000000">
                <a:alpha val="40000"/>
              </a:srgbClr>
            </a:outerShdw>
          </a:effectLst>
          <a:scene3d>
            <a:camera prst="orthographicFront">
              <a:rot lat="0" lon="0" rev="0"/>
            </a:camera>
            <a:lightRig rig="balanced" dir="t"/>
          </a:scene3d>
          <a:sp3d prstMaterial="metal">
            <a:bevelT w="254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lin ang="5400000" scaled="0"/>
        </a:gradFill>
        <a:blipFill rotWithShape="1">
          <a:blip xmlns:r="http://schemas.openxmlformats.org/officeDocument/2006/relationships" r:embed="rId1">
            <a:duotone>
              <a:schemeClr val="phClr">
                <a:shade val="1000"/>
                <a:lumMod val="80000"/>
              </a:schemeClr>
              <a:schemeClr val="phClr">
                <a:satMod val="360000"/>
                <a:lumMod val="14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Orbit.thmx</Template>
  <TotalTime>2947</TotalTime>
  <Words>1959</Words>
  <Application>Microsoft Macintosh PowerPoint</Application>
  <PresentationFormat>On-screen Show (4:3)</PresentationFormat>
  <Paragraphs>117</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Orbit</vt:lpstr>
      <vt:lpstr>Applied Perception</vt:lpstr>
      <vt:lpstr>PowerPoint Presentation</vt:lpstr>
      <vt:lpstr>PowerPoint Presentation</vt:lpstr>
      <vt:lpstr>PowerPoint Presentation</vt:lpstr>
      <vt:lpstr>PowerPoint Presentation</vt:lpstr>
      <vt:lpstr>How Could We Change what we see?</vt:lpstr>
      <vt:lpstr>How it works</vt:lpstr>
      <vt:lpstr>Why Is AR Important?</vt:lpstr>
      <vt:lpstr>Education</vt:lpstr>
      <vt:lpstr>Where Does It Take Place?</vt:lpstr>
      <vt:lpstr>PowerPoint Presentation</vt:lpstr>
      <vt:lpstr>Training</vt:lpstr>
      <vt:lpstr>PowerPoint Presentation</vt:lpstr>
      <vt:lpstr>AR Books</vt:lpstr>
      <vt:lpstr>Medicine</vt:lpstr>
      <vt:lpstr>Modeling</vt:lpstr>
      <vt:lpstr>Architecture</vt:lpstr>
      <vt:lpstr>PowerPoint Presentation</vt:lpstr>
      <vt:lpstr>PowerPoint Presentation</vt:lpstr>
      <vt:lpstr>PowerPoint Presentation</vt:lpstr>
      <vt:lpstr>Activities</vt:lpstr>
      <vt:lpstr>How Am I Using this information?</vt:lpstr>
      <vt:lpstr>Reference</vt:lpstr>
    </vt:vector>
  </TitlesOfParts>
  <Company>Ddc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Peter Garcia</dc:creator>
  <cp:lastModifiedBy>Peter Garcia</cp:lastModifiedBy>
  <cp:revision>46</cp:revision>
  <dcterms:created xsi:type="dcterms:W3CDTF">2013-10-06T16:08:39Z</dcterms:created>
  <dcterms:modified xsi:type="dcterms:W3CDTF">2013-10-08T17:16:24Z</dcterms:modified>
</cp:coreProperties>
</file>